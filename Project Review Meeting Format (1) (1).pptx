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5: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eddb92a214_0_0:notes"/>
          <p:cNvSpPr>
            <a:spLocks noGrp="1" noRot="1" noChangeAspect="1"/>
          </p:cNvSpPr>
          <p:nvPr>
            <p:ph type="sldImg" idx="2"/>
          </p:nvPr>
        </p:nvSpPr>
        <p:spPr>
          <a:xfrm>
            <a:off x="2857500" y="514350"/>
            <a:ext cx="3429000" cy="2571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eddb92a214_0_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3eddb92a214_0_0:notes"/>
          <p:cNvSpPr txBox="1">
            <a:spLocks noGrp="1"/>
          </p:cNvSpPr>
          <p:nvPr>
            <p:ph type="sldNum" idx="12"/>
          </p:nvPr>
        </p:nvSpPr>
        <p:spPr>
          <a:xfrm>
            <a:off x="5180013" y="6513513"/>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I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9: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0: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6"/>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457200" y="1600201"/>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722313" y="2906714"/>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4"/>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457200" y="1600201"/>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5"/>
          <p:cNvSpPr txBox="1">
            <a:spLocks noGrp="1"/>
          </p:cNvSpPr>
          <p:nvPr>
            <p:ph type="body" idx="2"/>
          </p:nvPr>
        </p:nvSpPr>
        <p:spPr>
          <a:xfrm>
            <a:off x="4648200" y="1600201"/>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5"/>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1"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457201"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body" idx="3"/>
          </p:nvPr>
        </p:nvSpPr>
        <p:spPr>
          <a:xfrm>
            <a:off x="4645026"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4645026"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6"/>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1"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1"/>
            <a:ext cx="5111751"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1" y="1435101"/>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1"/>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9"/>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2"/>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1"/>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1"/>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1"/>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1"/>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klh.edu.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685800" y="0"/>
            <a:ext cx="7772400" cy="1201361"/>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a:buNone/>
            </a:pPr>
            <a:br>
              <a:rPr lang="en-IN" sz="1800" b="0">
                <a:solidFill>
                  <a:schemeClr val="dk1"/>
                </a:solidFill>
                <a:latin typeface="Times New Roman"/>
                <a:ea typeface="Times New Roman"/>
                <a:cs typeface="Times New Roman"/>
                <a:sym typeface="Times New Roman"/>
              </a:rPr>
            </a:br>
            <a:r>
              <a:rPr lang="en-IN" sz="2200" b="0">
                <a:solidFill>
                  <a:schemeClr val="dk1"/>
                </a:solidFill>
                <a:latin typeface="Times New Roman"/>
                <a:ea typeface="Times New Roman"/>
                <a:cs typeface="Times New Roman"/>
                <a:sym typeface="Times New Roman"/>
              </a:rPr>
              <a:t>A</a:t>
            </a:r>
            <a:br>
              <a:rPr lang="en-IN" sz="1800" b="0">
                <a:solidFill>
                  <a:schemeClr val="dk1"/>
                </a:solidFill>
                <a:latin typeface="Times New Roman"/>
                <a:ea typeface="Times New Roman"/>
                <a:cs typeface="Times New Roman"/>
                <a:sym typeface="Times New Roman"/>
              </a:rPr>
            </a:br>
            <a:r>
              <a:rPr lang="en-IN" sz="3600" b="1">
                <a:solidFill>
                  <a:srgbClr val="FF0000"/>
                </a:solidFill>
                <a:latin typeface="Times New Roman"/>
                <a:ea typeface="Times New Roman"/>
                <a:cs typeface="Times New Roman"/>
                <a:sym typeface="Times New Roman"/>
              </a:rPr>
              <a:t>Project Review Meeting  </a:t>
            </a:r>
            <a:br>
              <a:rPr lang="en-IN" sz="2200">
                <a:latin typeface="Times New Roman"/>
                <a:ea typeface="Times New Roman"/>
                <a:cs typeface="Times New Roman"/>
                <a:sym typeface="Times New Roman"/>
              </a:rPr>
            </a:br>
            <a:r>
              <a:rPr lang="en-IN" sz="2200" b="0">
                <a:solidFill>
                  <a:schemeClr val="dk1"/>
                </a:solidFill>
                <a:latin typeface="Times New Roman"/>
                <a:ea typeface="Times New Roman"/>
                <a:cs typeface="Times New Roman"/>
                <a:sym typeface="Times New Roman"/>
              </a:rPr>
              <a:t> on</a:t>
            </a:r>
            <a:br>
              <a:rPr lang="en-IN" sz="2200">
                <a:latin typeface="Times New Roman"/>
                <a:ea typeface="Times New Roman"/>
                <a:cs typeface="Times New Roman"/>
                <a:sym typeface="Times New Roman"/>
              </a:rPr>
            </a:br>
            <a:r>
              <a:rPr lang="en-IN" sz="3200" b="1"/>
              <a:t>Doctor Appointment Booking System</a:t>
            </a:r>
            <a:endParaRPr sz="4000" b="1">
              <a:latin typeface="Times New Roman"/>
              <a:ea typeface="Times New Roman"/>
              <a:cs typeface="Times New Roman"/>
              <a:sym typeface="Times New Roman"/>
            </a:endParaRPr>
          </a:p>
        </p:txBody>
      </p:sp>
      <p:sp>
        <p:nvSpPr>
          <p:cNvPr id="89" name="Google Shape;89;p13"/>
          <p:cNvSpPr txBox="1">
            <a:spLocks noGrp="1"/>
          </p:cNvSpPr>
          <p:nvPr>
            <p:ph type="subTitle" idx="1"/>
          </p:nvPr>
        </p:nvSpPr>
        <p:spPr>
          <a:xfrm>
            <a:off x="381000" y="1366277"/>
            <a:ext cx="8458200" cy="2895600"/>
          </a:xfrm>
          <a:prstGeom prst="rect">
            <a:avLst/>
          </a:prstGeom>
          <a:noFill/>
          <a:ln>
            <a:noFill/>
          </a:ln>
        </p:spPr>
        <p:txBody>
          <a:bodyPr spcFirstLastPara="1" wrap="square" lIns="91425" tIns="45700" rIns="91425" bIns="45700" anchor="t" anchorCtr="0">
            <a:normAutofit fontScale="47500" lnSpcReduction="20000"/>
          </a:bodyPr>
          <a:lstStyle/>
          <a:p>
            <a:pPr marL="0" marR="0" lvl="0" indent="0" algn="ctr" rtl="0">
              <a:lnSpc>
                <a:spcPct val="80000"/>
              </a:lnSpc>
              <a:spcBef>
                <a:spcPts val="0"/>
              </a:spcBef>
              <a:spcAft>
                <a:spcPts val="0"/>
              </a:spcAft>
              <a:buClr>
                <a:srgbClr val="888888"/>
              </a:buClr>
              <a:buSzPct val="100000"/>
              <a:buNone/>
            </a:pPr>
            <a:endParaRPr sz="2000">
              <a:solidFill>
                <a:srgbClr val="0D0D0D"/>
              </a:solidFill>
              <a:latin typeface="Times New Roman"/>
              <a:ea typeface="Times New Roman"/>
              <a:cs typeface="Times New Roman"/>
              <a:sym typeface="Times New Roman"/>
            </a:endParaRPr>
          </a:p>
          <a:p>
            <a:pPr marL="0" marR="0" lvl="0" indent="0" algn="ctr" rtl="0">
              <a:lnSpc>
                <a:spcPct val="80000"/>
              </a:lnSpc>
              <a:spcBef>
                <a:spcPts val="247"/>
              </a:spcBef>
              <a:spcAft>
                <a:spcPts val="0"/>
              </a:spcAft>
              <a:buClr>
                <a:srgbClr val="888888"/>
              </a:buClr>
              <a:buSzPct val="100000"/>
              <a:buNone/>
            </a:pPr>
            <a:endParaRPr sz="2600" b="1">
              <a:solidFill>
                <a:srgbClr val="00B0F0"/>
              </a:solidFill>
              <a:latin typeface="Times New Roman"/>
              <a:ea typeface="Times New Roman"/>
              <a:cs typeface="Times New Roman"/>
              <a:sym typeface="Times New Roman"/>
            </a:endParaRPr>
          </a:p>
          <a:p>
            <a:pPr marL="0" marR="0" lvl="0" indent="0" algn="ctr" rtl="0">
              <a:lnSpc>
                <a:spcPct val="80000"/>
              </a:lnSpc>
              <a:spcBef>
                <a:spcPts val="247"/>
              </a:spcBef>
              <a:spcAft>
                <a:spcPts val="0"/>
              </a:spcAft>
              <a:buClr>
                <a:srgbClr val="00B0F0"/>
              </a:buClr>
              <a:buSzPct val="100000"/>
              <a:buNone/>
            </a:pPr>
            <a:r>
              <a:rPr lang="en-IN" sz="2600" b="1">
                <a:solidFill>
                  <a:srgbClr val="00B0F0"/>
                </a:solidFill>
                <a:latin typeface="Times New Roman"/>
                <a:ea typeface="Times New Roman"/>
                <a:cs typeface="Times New Roman"/>
                <a:sym typeface="Times New Roman"/>
              </a:rPr>
              <a:t>By</a:t>
            </a:r>
            <a:endParaRPr/>
          </a:p>
          <a:p>
            <a:pPr marL="0" marR="0" lvl="0" indent="0" algn="ctr" rtl="0">
              <a:lnSpc>
                <a:spcPct val="80000"/>
              </a:lnSpc>
              <a:spcBef>
                <a:spcPts val="247"/>
              </a:spcBef>
              <a:spcAft>
                <a:spcPts val="0"/>
              </a:spcAft>
              <a:buClr>
                <a:srgbClr val="888888"/>
              </a:buClr>
              <a:buSzPct val="100000"/>
              <a:buNone/>
            </a:pPr>
            <a:endParaRPr sz="2600" b="1">
              <a:solidFill>
                <a:srgbClr val="00B0F0"/>
              </a:solidFill>
              <a:latin typeface="Times New Roman"/>
              <a:ea typeface="Times New Roman"/>
              <a:cs typeface="Times New Roman"/>
              <a:sym typeface="Times New Roman"/>
            </a:endParaRPr>
          </a:p>
          <a:p>
            <a:pPr marL="457200" lvl="1" indent="0" algn="ctr" rtl="0">
              <a:lnSpc>
                <a:spcPct val="80000"/>
              </a:lnSpc>
              <a:spcBef>
                <a:spcPts val="275"/>
              </a:spcBef>
              <a:spcAft>
                <a:spcPts val="0"/>
              </a:spcAft>
              <a:buClr>
                <a:srgbClr val="0D0D0D"/>
              </a:buClr>
              <a:buSzPct val="100000"/>
              <a:buNone/>
            </a:pPr>
            <a:r>
              <a:rPr lang="en-IN" sz="2900">
                <a:solidFill>
                  <a:srgbClr val="0D0D0D"/>
                </a:solidFill>
                <a:latin typeface="Times New Roman"/>
                <a:ea typeface="Times New Roman"/>
                <a:cs typeface="Times New Roman"/>
                <a:sym typeface="Times New Roman"/>
              </a:rPr>
              <a:t>ABHIDEV - 2520030325</a:t>
            </a:r>
            <a:endParaRPr/>
          </a:p>
          <a:p>
            <a:pPr marL="457200" lvl="1" indent="0" algn="ctr" rtl="0">
              <a:lnSpc>
                <a:spcPct val="80000"/>
              </a:lnSpc>
              <a:spcBef>
                <a:spcPts val="275"/>
              </a:spcBef>
              <a:spcAft>
                <a:spcPts val="0"/>
              </a:spcAft>
              <a:buClr>
                <a:srgbClr val="0D0D0D"/>
              </a:buClr>
              <a:buSzPct val="100000"/>
              <a:buNone/>
            </a:pPr>
            <a:r>
              <a:rPr lang="en-IN" sz="2900">
                <a:solidFill>
                  <a:srgbClr val="0D0D0D"/>
                </a:solidFill>
                <a:latin typeface="Times New Roman"/>
                <a:ea typeface="Times New Roman"/>
                <a:cs typeface="Times New Roman"/>
                <a:sym typeface="Times New Roman"/>
              </a:rPr>
              <a:t>DHARANI DHAR  - 2520030163</a:t>
            </a:r>
            <a:endParaRPr/>
          </a:p>
          <a:p>
            <a:pPr marL="457200" lvl="1" indent="0" algn="ctr" rtl="0">
              <a:lnSpc>
                <a:spcPct val="80000"/>
              </a:lnSpc>
              <a:spcBef>
                <a:spcPts val="266"/>
              </a:spcBef>
              <a:spcAft>
                <a:spcPts val="0"/>
              </a:spcAft>
              <a:buClr>
                <a:srgbClr val="888888"/>
              </a:buClr>
              <a:buSzPct val="100000"/>
              <a:buNone/>
            </a:pPr>
            <a:endParaRPr b="1">
              <a:solidFill>
                <a:srgbClr val="00B0F0"/>
              </a:solidFill>
              <a:latin typeface="Times New Roman"/>
              <a:ea typeface="Times New Roman"/>
              <a:cs typeface="Times New Roman"/>
              <a:sym typeface="Times New Roman"/>
            </a:endParaRPr>
          </a:p>
          <a:p>
            <a:pPr marL="0" lvl="0" indent="0" algn="ctr" rtl="0">
              <a:lnSpc>
                <a:spcPct val="80000"/>
              </a:lnSpc>
              <a:spcBef>
                <a:spcPts val="342"/>
              </a:spcBef>
              <a:spcAft>
                <a:spcPts val="0"/>
              </a:spcAft>
              <a:buClr>
                <a:srgbClr val="00B0F0"/>
              </a:buClr>
              <a:buSzPct val="100000"/>
              <a:buNone/>
            </a:pPr>
            <a:r>
              <a:rPr lang="en-IN" sz="3600" b="1">
                <a:solidFill>
                  <a:srgbClr val="00B0F0"/>
                </a:solidFill>
                <a:latin typeface="Times New Roman"/>
                <a:ea typeface="Times New Roman"/>
                <a:cs typeface="Times New Roman"/>
                <a:sym typeface="Times New Roman"/>
              </a:rPr>
              <a:t>Team Number: 21</a:t>
            </a:r>
            <a:endParaRPr/>
          </a:p>
          <a:p>
            <a:pPr marL="0" marR="0" lvl="0" indent="0" algn="ctr" rtl="0">
              <a:lnSpc>
                <a:spcPct val="80000"/>
              </a:lnSpc>
              <a:spcBef>
                <a:spcPts val="313"/>
              </a:spcBef>
              <a:spcAft>
                <a:spcPts val="0"/>
              </a:spcAft>
              <a:buClr>
                <a:srgbClr val="888888"/>
              </a:buClr>
              <a:buSzPct val="100000"/>
              <a:buNone/>
            </a:pPr>
            <a:endParaRPr sz="3300">
              <a:solidFill>
                <a:srgbClr val="0D0D0D"/>
              </a:solidFill>
              <a:latin typeface="Times New Roman"/>
              <a:ea typeface="Times New Roman"/>
              <a:cs typeface="Times New Roman"/>
              <a:sym typeface="Times New Roman"/>
            </a:endParaRPr>
          </a:p>
          <a:p>
            <a:pPr marL="0" marR="0" lvl="0" indent="0" algn="ctr" rtl="0">
              <a:lnSpc>
                <a:spcPct val="80000"/>
              </a:lnSpc>
              <a:spcBef>
                <a:spcPts val="123"/>
              </a:spcBef>
              <a:spcAft>
                <a:spcPts val="0"/>
              </a:spcAft>
              <a:buClr>
                <a:srgbClr val="888888"/>
              </a:buClr>
              <a:buSzPct val="100000"/>
              <a:buNone/>
            </a:pPr>
            <a:endParaRPr sz="1300" b="1">
              <a:solidFill>
                <a:srgbClr val="FF0000"/>
              </a:solidFill>
              <a:latin typeface="Times New Roman"/>
              <a:ea typeface="Times New Roman"/>
              <a:cs typeface="Times New Roman"/>
              <a:sym typeface="Times New Roman"/>
            </a:endParaRPr>
          </a:p>
          <a:p>
            <a:pPr marL="0" marR="0" lvl="0" indent="0" algn="ctr" rtl="0">
              <a:lnSpc>
                <a:spcPct val="80000"/>
              </a:lnSpc>
              <a:spcBef>
                <a:spcPts val="313"/>
              </a:spcBef>
              <a:spcAft>
                <a:spcPts val="0"/>
              </a:spcAft>
              <a:buClr>
                <a:srgbClr val="FF0000"/>
              </a:buClr>
              <a:buSzPct val="100000"/>
              <a:buNone/>
            </a:pPr>
            <a:r>
              <a:rPr lang="en-IN" sz="3300" b="1" i="1">
                <a:solidFill>
                  <a:srgbClr val="FF0000"/>
                </a:solidFill>
                <a:latin typeface="Times New Roman"/>
                <a:ea typeface="Times New Roman"/>
                <a:cs typeface="Times New Roman"/>
                <a:sym typeface="Times New Roman"/>
              </a:rPr>
              <a:t>Under the guidance of </a:t>
            </a:r>
            <a:endParaRPr/>
          </a:p>
          <a:p>
            <a:pPr marL="0" marR="0" lvl="0" indent="0" algn="ctr" rtl="0">
              <a:lnSpc>
                <a:spcPct val="80000"/>
              </a:lnSpc>
              <a:spcBef>
                <a:spcPts val="228"/>
              </a:spcBef>
              <a:spcAft>
                <a:spcPts val="0"/>
              </a:spcAft>
              <a:buClr>
                <a:srgbClr val="888888"/>
              </a:buClr>
              <a:buSzPct val="100000"/>
              <a:buNone/>
            </a:pPr>
            <a:endParaRPr sz="2400">
              <a:solidFill>
                <a:srgbClr val="0D0D0D"/>
              </a:solidFill>
              <a:latin typeface="Times New Roman"/>
              <a:ea typeface="Times New Roman"/>
              <a:cs typeface="Times New Roman"/>
              <a:sym typeface="Times New Roman"/>
            </a:endParaRPr>
          </a:p>
          <a:p>
            <a:pPr marL="0" marR="0" lvl="0" indent="0" algn="ctr" rtl="0">
              <a:lnSpc>
                <a:spcPct val="80000"/>
              </a:lnSpc>
              <a:spcBef>
                <a:spcPts val="323"/>
              </a:spcBef>
              <a:spcAft>
                <a:spcPts val="0"/>
              </a:spcAft>
              <a:buClr>
                <a:srgbClr val="00B0F0"/>
              </a:buClr>
              <a:buSzPct val="100000"/>
              <a:buNone/>
            </a:pPr>
            <a:r>
              <a:rPr lang="en-IN" sz="3400" b="1">
                <a:solidFill>
                  <a:srgbClr val="00B0F0"/>
                </a:solidFill>
                <a:latin typeface="Times New Roman"/>
                <a:ea typeface="Times New Roman"/>
                <a:cs typeface="Times New Roman"/>
                <a:sym typeface="Times New Roman"/>
              </a:rPr>
              <a:t>Dr. NIRMALA JYOTHI</a:t>
            </a:r>
            <a:endParaRPr/>
          </a:p>
          <a:p>
            <a:pPr marL="0" marR="0" lvl="0" indent="0" algn="ctr" rtl="0">
              <a:lnSpc>
                <a:spcPct val="80000"/>
              </a:lnSpc>
              <a:spcBef>
                <a:spcPts val="323"/>
              </a:spcBef>
              <a:spcAft>
                <a:spcPts val="0"/>
              </a:spcAft>
              <a:buClr>
                <a:srgbClr val="00B0F0"/>
              </a:buClr>
              <a:buSzPct val="100000"/>
              <a:buNone/>
            </a:pPr>
            <a:r>
              <a:rPr lang="en-IN" sz="3400" b="1">
                <a:solidFill>
                  <a:srgbClr val="00B0F0"/>
                </a:solidFill>
                <a:latin typeface="Times New Roman"/>
                <a:ea typeface="Times New Roman"/>
                <a:cs typeface="Times New Roman"/>
                <a:sym typeface="Times New Roman"/>
              </a:rPr>
              <a:t>Associate Professor </a:t>
            </a:r>
            <a:endParaRPr/>
          </a:p>
          <a:p>
            <a:pPr marL="0" marR="0" lvl="0" indent="0" algn="ctr" rtl="0">
              <a:lnSpc>
                <a:spcPct val="80000"/>
              </a:lnSpc>
              <a:spcBef>
                <a:spcPts val="228"/>
              </a:spcBef>
              <a:spcAft>
                <a:spcPts val="0"/>
              </a:spcAft>
              <a:buClr>
                <a:srgbClr val="888888"/>
              </a:buClr>
              <a:buSzPct val="100000"/>
              <a:buNone/>
            </a:pPr>
            <a:endParaRPr sz="2400" b="1">
              <a:solidFill>
                <a:srgbClr val="0070C0"/>
              </a:solidFill>
              <a:latin typeface="Times New Roman"/>
              <a:ea typeface="Times New Roman"/>
              <a:cs typeface="Times New Roman"/>
              <a:sym typeface="Times New Roman"/>
            </a:endParaRPr>
          </a:p>
          <a:p>
            <a:pPr marL="0" marR="0" lvl="0" indent="0" algn="ctr" rtl="0">
              <a:lnSpc>
                <a:spcPct val="80000"/>
              </a:lnSpc>
              <a:spcBef>
                <a:spcPts val="418"/>
              </a:spcBef>
              <a:spcAft>
                <a:spcPts val="0"/>
              </a:spcAft>
              <a:buClr>
                <a:srgbClr val="0070C0"/>
              </a:buClr>
              <a:buSzPct val="100000"/>
              <a:buNone/>
            </a:pPr>
            <a:r>
              <a:rPr lang="en-IN" sz="4400" b="1">
                <a:solidFill>
                  <a:srgbClr val="0070C0"/>
                </a:solidFill>
                <a:latin typeface="Times New Roman"/>
                <a:ea typeface="Times New Roman"/>
                <a:cs typeface="Times New Roman"/>
                <a:sym typeface="Times New Roman"/>
              </a:rPr>
              <a:t>Department of Computer Science and Engineering</a:t>
            </a:r>
            <a:endParaRPr/>
          </a:p>
          <a:p>
            <a:pPr marL="0" marR="0" lvl="0" indent="0" algn="ctr" rtl="0">
              <a:lnSpc>
                <a:spcPct val="80000"/>
              </a:lnSpc>
              <a:spcBef>
                <a:spcPts val="228"/>
              </a:spcBef>
              <a:spcAft>
                <a:spcPts val="0"/>
              </a:spcAft>
              <a:buClr>
                <a:srgbClr val="0D0D0D"/>
              </a:buClr>
              <a:buSzPct val="100000"/>
              <a:buNone/>
            </a:pPr>
            <a:r>
              <a:rPr lang="en-IN" sz="2400" b="1">
                <a:solidFill>
                  <a:srgbClr val="0D0D0D"/>
                </a:solidFill>
                <a:latin typeface="Times New Roman"/>
                <a:ea typeface="Times New Roman"/>
                <a:cs typeface="Times New Roman"/>
                <a:sym typeface="Times New Roman"/>
              </a:rPr>
              <a:t>                                                </a:t>
            </a:r>
            <a:r>
              <a:rPr lang="en-IN" sz="2400">
                <a:solidFill>
                  <a:srgbClr val="0D0D0D"/>
                </a:solidFill>
                <a:latin typeface="Times New Roman"/>
                <a:ea typeface="Times New Roman"/>
                <a:cs typeface="Times New Roman"/>
                <a:sym typeface="Times New Roman"/>
              </a:rPr>
              <a:t>                                                                          </a:t>
            </a:r>
            <a:endParaRPr/>
          </a:p>
        </p:txBody>
      </p:sp>
      <p:sp>
        <p:nvSpPr>
          <p:cNvPr id="90" name="Google Shape;90;p13"/>
          <p:cNvSpPr txBox="1"/>
          <p:nvPr/>
        </p:nvSpPr>
        <p:spPr>
          <a:xfrm>
            <a:off x="349155" y="5257800"/>
            <a:ext cx="9144000" cy="1365695"/>
          </a:xfrm>
          <a:prstGeom prst="rect">
            <a:avLst/>
          </a:prstGeom>
          <a:noFill/>
          <a:ln>
            <a:noFill/>
          </a:ln>
        </p:spPr>
        <p:txBody>
          <a:bodyPr spcFirstLastPara="1" wrap="square" lIns="91425" tIns="45700" rIns="91425" bIns="45700" anchor="t" anchorCtr="0">
            <a:spAutoFit/>
          </a:bodyPr>
          <a:lstStyle/>
          <a:p>
            <a:pPr marL="0" marR="0" lvl="0" indent="0" algn="ctr" rtl="0">
              <a:lnSpc>
                <a:spcPct val="107000"/>
              </a:lnSpc>
              <a:spcBef>
                <a:spcPts val="0"/>
              </a:spcBef>
              <a:spcAft>
                <a:spcPts val="0"/>
              </a:spcAft>
              <a:buNone/>
            </a:pPr>
            <a:r>
              <a:rPr lang="en-IN" sz="2800" b="1" i="0" u="none" strike="noStrike" cap="none">
                <a:solidFill>
                  <a:schemeClr val="dk1"/>
                </a:solidFill>
                <a:latin typeface="Times New Roman"/>
                <a:ea typeface="Times New Roman"/>
                <a:cs typeface="Times New Roman"/>
                <a:sym typeface="Times New Roman"/>
              </a:rPr>
              <a:t>Koneru Lakshmaiah Education Foundation</a:t>
            </a:r>
            <a:br>
              <a:rPr lang="en-IN" sz="1800" b="1" i="0" u="none" strike="noStrike" cap="none">
                <a:solidFill>
                  <a:schemeClr val="dk1"/>
                </a:solidFill>
                <a:latin typeface="Times New Roman"/>
                <a:ea typeface="Times New Roman"/>
                <a:cs typeface="Times New Roman"/>
                <a:sym typeface="Times New Roman"/>
              </a:rPr>
            </a:br>
            <a:r>
              <a:rPr lang="en-IN" sz="1800" b="1" i="0" u="none" strike="noStrike" cap="none">
                <a:solidFill>
                  <a:schemeClr val="dk1"/>
                </a:solidFill>
                <a:latin typeface="Times New Roman"/>
                <a:ea typeface="Times New Roman"/>
                <a:cs typeface="Times New Roman"/>
                <a:sym typeface="Times New Roman"/>
              </a:rPr>
              <a:t>(Deemed to be University estd. u/s. 3 of the UGC Act, 1956)</a:t>
            </a:r>
            <a:br>
              <a:rPr lang="en-IN" sz="1800" b="1" i="0" u="none" strike="noStrike" cap="none">
                <a:solidFill>
                  <a:schemeClr val="dk1"/>
                </a:solidFill>
                <a:latin typeface="Times New Roman"/>
                <a:ea typeface="Times New Roman"/>
                <a:cs typeface="Times New Roman"/>
                <a:sym typeface="Times New Roman"/>
              </a:rPr>
            </a:br>
            <a:r>
              <a:rPr lang="en-IN" sz="1600" b="1" i="0" u="none" strike="noStrike" cap="none">
                <a:solidFill>
                  <a:schemeClr val="dk1"/>
                </a:solidFill>
                <a:latin typeface="Times New Roman"/>
                <a:ea typeface="Times New Roman"/>
                <a:cs typeface="Times New Roman"/>
                <a:sym typeface="Times New Roman"/>
              </a:rPr>
              <a:t>Off-Campus: Bachupally-Gandimaisamma Road, Bowrampet, Hyderabad, Telangana - 500 043.</a:t>
            </a:r>
            <a:br>
              <a:rPr lang="en-IN" sz="1600" b="1" i="0" u="none" strike="noStrike" cap="none">
                <a:solidFill>
                  <a:schemeClr val="dk1"/>
                </a:solidFill>
                <a:latin typeface="Times New Roman"/>
                <a:ea typeface="Times New Roman"/>
                <a:cs typeface="Times New Roman"/>
                <a:sym typeface="Times New Roman"/>
              </a:rPr>
            </a:br>
            <a:r>
              <a:rPr lang="en-IN" sz="1600" b="1" i="0" u="none" strike="noStrike" cap="none">
                <a:solidFill>
                  <a:schemeClr val="dk1"/>
                </a:solidFill>
                <a:latin typeface="Times New Roman"/>
                <a:ea typeface="Times New Roman"/>
                <a:cs typeface="Times New Roman"/>
                <a:sym typeface="Times New Roman"/>
              </a:rPr>
              <a:t>Phone No: 7815926816, </a:t>
            </a:r>
            <a:r>
              <a:rPr lang="en-IN" sz="1600" b="1" i="0" u="sng" strike="noStrike" cap="none">
                <a:solidFill>
                  <a:schemeClr val="hlink"/>
                </a:solidFill>
                <a:latin typeface="Times New Roman"/>
                <a:ea typeface="Times New Roman"/>
                <a:cs typeface="Times New Roman"/>
                <a:sym typeface="Times New Roman"/>
                <a:hlinkClick r:id="rId3"/>
              </a:rPr>
              <a:t>www.klh.edu.in</a:t>
            </a:r>
            <a:endParaRPr sz="1600" b="0" i="0" u="none" strike="noStrike" cap="none">
              <a:solidFill>
                <a:schemeClr val="dk1"/>
              </a:solidFill>
              <a:latin typeface="Arial"/>
              <a:ea typeface="Arial"/>
              <a:cs typeface="Arial"/>
              <a:sym typeface="Arial"/>
            </a:endParaRPr>
          </a:p>
        </p:txBody>
      </p:sp>
      <p:pic>
        <p:nvPicPr>
          <p:cNvPr id="91" name="Google Shape;91;p13"/>
          <p:cNvPicPr preferRelativeResize="0"/>
          <p:nvPr/>
        </p:nvPicPr>
        <p:blipFill rotWithShape="1">
          <a:blip r:embed="rId4">
            <a:alphaModFix/>
          </a:blip>
          <a:src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457200" y="160336"/>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70C0"/>
              </a:buClr>
              <a:buSzPts val="2800"/>
              <a:buFont typeface="Times New Roman"/>
              <a:buNone/>
            </a:pPr>
            <a:r>
              <a:rPr lang="en-IN" sz="2800" b="1">
                <a:solidFill>
                  <a:srgbClr val="0070C0"/>
                </a:solidFill>
                <a:latin typeface="Times New Roman"/>
                <a:ea typeface="Times New Roman"/>
                <a:cs typeface="Times New Roman"/>
                <a:sym typeface="Times New Roman"/>
              </a:rPr>
              <a:t>Outline of the Presentation</a:t>
            </a:r>
            <a:endParaRPr/>
          </a:p>
        </p:txBody>
      </p:sp>
      <p:sp>
        <p:nvSpPr>
          <p:cNvPr id="97" name="Google Shape;97;p14"/>
          <p:cNvSpPr txBox="1">
            <a:spLocks noGrp="1"/>
          </p:cNvSpPr>
          <p:nvPr>
            <p:ph type="body" idx="1"/>
          </p:nvPr>
        </p:nvSpPr>
        <p:spPr>
          <a:xfrm>
            <a:off x="304800" y="1447801"/>
            <a:ext cx="8839200" cy="46783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Char char="•"/>
            </a:pPr>
            <a:r>
              <a:rPr lang="en-IN">
                <a:latin typeface="Times New Roman"/>
                <a:ea typeface="Times New Roman"/>
                <a:cs typeface="Times New Roman"/>
                <a:sym typeface="Times New Roman"/>
              </a:rPr>
              <a:t>Abstract</a:t>
            </a:r>
            <a:endParaRPr/>
          </a:p>
          <a:p>
            <a:pPr marL="342900" lvl="0" indent="-342900" algn="l" rtl="0">
              <a:spcBef>
                <a:spcPts val="592"/>
              </a:spcBef>
              <a:spcAft>
                <a:spcPts val="0"/>
              </a:spcAft>
              <a:buClr>
                <a:schemeClr val="dk1"/>
              </a:buClr>
              <a:buSzPct val="100000"/>
              <a:buChar char="•"/>
            </a:pPr>
            <a:r>
              <a:rPr lang="en-IN">
                <a:latin typeface="Times New Roman"/>
                <a:ea typeface="Times New Roman"/>
                <a:cs typeface="Times New Roman"/>
                <a:sym typeface="Times New Roman"/>
              </a:rPr>
              <a:t>Introduction</a:t>
            </a:r>
            <a:endParaRPr/>
          </a:p>
          <a:p>
            <a:pPr marL="342900" lvl="0" indent="-342900" algn="l" rtl="0">
              <a:spcBef>
                <a:spcPts val="592"/>
              </a:spcBef>
              <a:spcAft>
                <a:spcPts val="0"/>
              </a:spcAft>
              <a:buClr>
                <a:schemeClr val="dk1"/>
              </a:buClr>
              <a:buSzPct val="100000"/>
              <a:buChar char="•"/>
            </a:pPr>
            <a:r>
              <a:rPr lang="en-IN">
                <a:latin typeface="Times New Roman"/>
                <a:ea typeface="Times New Roman"/>
                <a:cs typeface="Times New Roman"/>
                <a:sym typeface="Times New Roman"/>
              </a:rPr>
              <a:t>Problem Statement</a:t>
            </a:r>
            <a:endParaRPr/>
          </a:p>
          <a:p>
            <a:pPr marL="342900" lvl="0" indent="-342900" algn="l" rtl="0">
              <a:spcBef>
                <a:spcPts val="592"/>
              </a:spcBef>
              <a:spcAft>
                <a:spcPts val="0"/>
              </a:spcAft>
              <a:buClr>
                <a:schemeClr val="dk1"/>
              </a:buClr>
              <a:buSzPct val="100000"/>
              <a:buChar char="•"/>
            </a:pPr>
            <a:r>
              <a:rPr lang="en-IN">
                <a:latin typeface="Times New Roman"/>
                <a:ea typeface="Times New Roman"/>
                <a:cs typeface="Times New Roman"/>
                <a:sym typeface="Times New Roman"/>
              </a:rPr>
              <a:t>Project Flow Diagram</a:t>
            </a:r>
            <a:endParaRPr/>
          </a:p>
          <a:p>
            <a:pPr marL="342900" lvl="0" indent="-342900" algn="l" rtl="0">
              <a:spcBef>
                <a:spcPts val="592"/>
              </a:spcBef>
              <a:spcAft>
                <a:spcPts val="0"/>
              </a:spcAft>
              <a:buClr>
                <a:schemeClr val="dk1"/>
              </a:buClr>
              <a:buSzPct val="100000"/>
              <a:buChar char="•"/>
            </a:pPr>
            <a:r>
              <a:rPr lang="en-IN">
                <a:latin typeface="Times New Roman"/>
                <a:ea typeface="Times New Roman"/>
                <a:cs typeface="Times New Roman"/>
                <a:sym typeface="Times New Roman"/>
              </a:rPr>
              <a:t>Objectives with Justification</a:t>
            </a:r>
            <a:endParaRPr/>
          </a:p>
          <a:p>
            <a:pPr marL="342900" lvl="0" indent="-342900" algn="l" rtl="0">
              <a:spcBef>
                <a:spcPts val="592"/>
              </a:spcBef>
              <a:spcAft>
                <a:spcPts val="0"/>
              </a:spcAft>
              <a:buClr>
                <a:schemeClr val="dk1"/>
              </a:buClr>
              <a:buSzPct val="100000"/>
              <a:buChar char="•"/>
            </a:pPr>
            <a:r>
              <a:rPr lang="en-IN">
                <a:latin typeface="Times New Roman"/>
                <a:ea typeface="Times New Roman"/>
                <a:cs typeface="Times New Roman"/>
                <a:sym typeface="Times New Roman"/>
              </a:rPr>
              <a:t>Modules[Frontend web pages]</a:t>
            </a:r>
            <a:endParaRPr/>
          </a:p>
          <a:p>
            <a:pPr marL="342900" lvl="0" indent="-342900" algn="l" rtl="0">
              <a:spcBef>
                <a:spcPts val="592"/>
              </a:spcBef>
              <a:spcAft>
                <a:spcPts val="0"/>
              </a:spcAft>
              <a:buClr>
                <a:schemeClr val="dk1"/>
              </a:buClr>
              <a:buSzPct val="100000"/>
              <a:buChar char="•"/>
            </a:pPr>
            <a:r>
              <a:rPr lang="en-IN">
                <a:latin typeface="Times New Roman"/>
                <a:ea typeface="Times New Roman"/>
                <a:cs typeface="Times New Roman"/>
                <a:sym typeface="Times New Roman"/>
              </a:rPr>
              <a:t>Expected Outcomes of the Proposed Work</a:t>
            </a:r>
            <a:endParaRPr/>
          </a:p>
          <a:p>
            <a:pPr marL="342900" lvl="0" indent="-342900" algn="l" rtl="0">
              <a:spcBef>
                <a:spcPts val="592"/>
              </a:spcBef>
              <a:spcAft>
                <a:spcPts val="0"/>
              </a:spcAft>
              <a:buClr>
                <a:schemeClr val="dk1"/>
              </a:buClr>
              <a:buSzPct val="100000"/>
              <a:buChar char="•"/>
            </a:pPr>
            <a:r>
              <a:rPr lang="en-IN">
                <a:latin typeface="Times New Roman"/>
                <a:ea typeface="Times New Roman"/>
                <a:cs typeface="Times New Roman"/>
                <a:sym typeface="Times New Roman"/>
              </a:rPr>
              <a:t>Conclusion </a:t>
            </a:r>
            <a:endParaRPr/>
          </a:p>
          <a:p>
            <a:pPr marL="342900" lvl="0" indent="-342900" algn="l" rtl="0">
              <a:spcBef>
                <a:spcPts val="592"/>
              </a:spcBef>
              <a:spcAft>
                <a:spcPts val="0"/>
              </a:spcAft>
              <a:buClr>
                <a:schemeClr val="dk1"/>
              </a:buClr>
              <a:buSzPct val="100000"/>
              <a:buChar char="•"/>
            </a:pPr>
            <a:r>
              <a:rPr lang="en-IN">
                <a:latin typeface="Times New Roman"/>
                <a:ea typeface="Times New Roman"/>
                <a:cs typeface="Times New Roman"/>
                <a:sym typeface="Times New Roman"/>
              </a:rPr>
              <a:t>References</a:t>
            </a:r>
            <a:endParaRPr/>
          </a:p>
          <a:p>
            <a:pPr marL="342900" lvl="0" indent="-154940" algn="l" rtl="0">
              <a:spcBef>
                <a:spcPts val="592"/>
              </a:spcBef>
              <a:spcAft>
                <a:spcPts val="0"/>
              </a:spcAft>
              <a:buClr>
                <a:schemeClr val="dk1"/>
              </a:buClr>
              <a:buSzPct val="100000"/>
              <a:buNone/>
            </a:pPr>
            <a:endParaRPr>
              <a:latin typeface="Times New Roman"/>
              <a:ea typeface="Times New Roman"/>
              <a:cs typeface="Times New Roman"/>
              <a:sym typeface="Times New Roman"/>
            </a:endParaRPr>
          </a:p>
          <a:p>
            <a:pPr marL="342900" lvl="0" indent="-154940" algn="l" rtl="0">
              <a:spcBef>
                <a:spcPts val="592"/>
              </a:spcBef>
              <a:spcAft>
                <a:spcPts val="0"/>
              </a:spcAft>
              <a:buClr>
                <a:schemeClr val="dk1"/>
              </a:buClr>
              <a:buSzPct val="100000"/>
              <a:buNone/>
            </a:pPr>
            <a:endParaRPr>
              <a:latin typeface="Times New Roman"/>
              <a:ea typeface="Times New Roman"/>
              <a:cs typeface="Times New Roman"/>
              <a:sym typeface="Times New Roman"/>
            </a:endParaRPr>
          </a:p>
          <a:p>
            <a:pPr marL="342900" lvl="0" indent="-154940" algn="l" rtl="0">
              <a:spcBef>
                <a:spcPts val="592"/>
              </a:spcBef>
              <a:spcAft>
                <a:spcPts val="0"/>
              </a:spcAft>
              <a:buClr>
                <a:schemeClr val="dk1"/>
              </a:buClr>
              <a:buSzPct val="100000"/>
              <a:buNone/>
            </a:pPr>
            <a:endParaRPr/>
          </a:p>
        </p:txBody>
      </p:sp>
      <p:pic>
        <p:nvPicPr>
          <p:cNvPr id="98" name="Google Shape;98;p14"/>
          <p:cNvPicPr preferRelativeResize="0"/>
          <p:nvPr/>
        </p:nvPicPr>
        <p:blipFill rotWithShape="1">
          <a:blip r:embed="rId3">
            <a:alphaModFix/>
          </a:blip>
          <a:src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70C0"/>
              </a:buClr>
              <a:buSzPts val="2800"/>
              <a:buFont typeface="Times New Roman"/>
              <a:buNone/>
            </a:pPr>
            <a:r>
              <a:rPr lang="en-IN" sz="2800" b="1">
                <a:solidFill>
                  <a:srgbClr val="0070C0"/>
                </a:solidFill>
                <a:latin typeface="Times New Roman"/>
                <a:ea typeface="Times New Roman"/>
                <a:cs typeface="Times New Roman"/>
                <a:sym typeface="Times New Roman"/>
              </a:rPr>
              <a:t>Abstract</a:t>
            </a:r>
            <a:endParaRPr sz="2800"/>
          </a:p>
        </p:txBody>
      </p:sp>
      <p:sp>
        <p:nvSpPr>
          <p:cNvPr id="104" name="Google Shape;104;p15"/>
          <p:cNvSpPr txBox="1">
            <a:spLocks noGrp="1"/>
          </p:cNvSpPr>
          <p:nvPr>
            <p:ph type="body" idx="1"/>
          </p:nvPr>
        </p:nvSpPr>
        <p:spPr>
          <a:xfrm>
            <a:off x="228600" y="1295400"/>
            <a:ext cx="8763000" cy="55626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400"/>
              <a:buChar char="•"/>
            </a:pPr>
            <a:r>
              <a:rPr lang="en-IN" sz="1400"/>
              <a:t>The </a:t>
            </a:r>
            <a:r>
              <a:rPr lang="en-IN" sz="1400" b="1"/>
              <a:t>Doctor Appointment Booking System</a:t>
            </a:r>
            <a:r>
              <a:rPr lang="en-IN" sz="1400"/>
              <a:t> is a web-based healthcare application designed to simplify and digitize the process of scheduling medical appointments. In traditional healthcare systems, booking appointments often involves manual procedures, long waiting times, and difficulty in checking doctor availability. This project aims to overcome these challenges by providing an efficient, user-friendly, and centralized online platform for appointment management.</a:t>
            </a:r>
            <a:endParaRPr/>
          </a:p>
          <a:p>
            <a:pPr marL="342900" lvl="0" indent="-254000" algn="l" rtl="0">
              <a:spcBef>
                <a:spcPts val="280"/>
              </a:spcBef>
              <a:spcAft>
                <a:spcPts val="0"/>
              </a:spcAft>
              <a:buClr>
                <a:schemeClr val="dk1"/>
              </a:buClr>
              <a:buSzPts val="1400"/>
              <a:buNone/>
            </a:pPr>
            <a:endParaRPr sz="1400"/>
          </a:p>
          <a:p>
            <a:pPr marL="342900" lvl="0" indent="-342900" algn="l" rtl="0">
              <a:spcBef>
                <a:spcPts val="280"/>
              </a:spcBef>
              <a:spcAft>
                <a:spcPts val="0"/>
              </a:spcAft>
              <a:buClr>
                <a:schemeClr val="dk1"/>
              </a:buClr>
              <a:buSzPts val="1400"/>
              <a:buChar char="•"/>
            </a:pPr>
            <a:r>
              <a:rPr lang="en-IN" sz="1400"/>
              <a:t>The system allows patients to search doctors based on specialization, location, and availability. Users can view doctor profiles, select preferred appointment dates using an interactive calendar, choose available time slots, and confirm bookings instantly. The application also provides facilities such as appointment reminders, booking history, cancellation, rescheduling, and patient profile management for better convenience and accessibility.</a:t>
            </a:r>
            <a:endParaRPr/>
          </a:p>
          <a:p>
            <a:pPr marL="342900" lvl="0" indent="-254000" algn="l" rtl="0">
              <a:spcBef>
                <a:spcPts val="280"/>
              </a:spcBef>
              <a:spcAft>
                <a:spcPts val="0"/>
              </a:spcAft>
              <a:buClr>
                <a:schemeClr val="dk1"/>
              </a:buClr>
              <a:buSzPts val="1400"/>
              <a:buNone/>
            </a:pPr>
            <a:endParaRPr sz="1400"/>
          </a:p>
          <a:p>
            <a:pPr marL="342900" lvl="0" indent="-342900" algn="l" rtl="0">
              <a:spcBef>
                <a:spcPts val="280"/>
              </a:spcBef>
              <a:spcAft>
                <a:spcPts val="0"/>
              </a:spcAft>
              <a:buClr>
                <a:schemeClr val="dk1"/>
              </a:buClr>
              <a:buSzPts val="1400"/>
              <a:buChar char="•"/>
            </a:pPr>
            <a:r>
              <a:rPr lang="en-IN" sz="1400"/>
              <a:t>An administrative panel is provided to manage doctor profiles, schedules, patient appointments, and booking records efficiently. Administrators can add new doctors, update availability slots, monitor appointments, and manage overall system operations. This helps improve hospital workflow, reduce scheduling conflicts, and enhance service quality.</a:t>
            </a:r>
            <a:endParaRPr/>
          </a:p>
          <a:p>
            <a:pPr marL="342900" lvl="0" indent="-254000" algn="l" rtl="0">
              <a:spcBef>
                <a:spcPts val="280"/>
              </a:spcBef>
              <a:spcAft>
                <a:spcPts val="0"/>
              </a:spcAft>
              <a:buClr>
                <a:schemeClr val="dk1"/>
              </a:buClr>
              <a:buSzPts val="1400"/>
              <a:buNone/>
            </a:pPr>
            <a:endParaRPr sz="1400"/>
          </a:p>
          <a:p>
            <a:pPr marL="342900" lvl="0" indent="-342900" algn="l" rtl="0">
              <a:spcBef>
                <a:spcPts val="280"/>
              </a:spcBef>
              <a:spcAft>
                <a:spcPts val="0"/>
              </a:spcAft>
              <a:buClr>
                <a:schemeClr val="dk1"/>
              </a:buClr>
              <a:buSzPts val="1400"/>
              <a:buChar char="•"/>
            </a:pPr>
            <a:r>
              <a:rPr lang="en-IN" sz="1400"/>
              <a:t>The frontend of the application is developed using </a:t>
            </a:r>
            <a:r>
              <a:rPr lang="en-IN" sz="1400" b="1"/>
              <a:t>React.js</a:t>
            </a:r>
            <a:r>
              <a:rPr lang="en-IN" sz="1400"/>
              <a:t> to provide a responsive and interactive user interface, while the backend uses </a:t>
            </a:r>
            <a:r>
              <a:rPr lang="en-IN" sz="1400" b="1"/>
              <a:t>Node.js and Express.js</a:t>
            </a:r>
            <a:r>
              <a:rPr lang="en-IN" sz="1400"/>
              <a:t> for server-side processing and API integration. Data is managed using </a:t>
            </a:r>
            <a:r>
              <a:rPr lang="en-IN" sz="1400" b="1"/>
              <a:t> Local Storage</a:t>
            </a:r>
            <a:r>
              <a:rPr lang="en-IN" sz="1400"/>
              <a:t> depending on implementation requirements. The system ensures efficient appointment management, reduces manual workload, improves patient satisfaction, and supports digital transformation in healthcare services.</a:t>
            </a:r>
            <a:endParaRPr/>
          </a:p>
        </p:txBody>
      </p:sp>
      <p:pic>
        <p:nvPicPr>
          <p:cNvPr id="105" name="Google Shape;105;p15"/>
          <p:cNvPicPr preferRelativeResize="0"/>
          <p:nvPr/>
        </p:nvPicPr>
        <p:blipFill rotWithShape="1">
          <a:blip r:embed="rId3">
            <a:alphaModFix/>
          </a:blip>
          <a:src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70C0"/>
              </a:buClr>
              <a:buSzPts val="2800"/>
              <a:buFont typeface="Times New Roman"/>
              <a:buNone/>
            </a:pPr>
            <a:r>
              <a:rPr lang="en-IN" sz="2800" b="1">
                <a:solidFill>
                  <a:srgbClr val="0070C0"/>
                </a:solidFill>
                <a:latin typeface="Times New Roman"/>
                <a:ea typeface="Times New Roman"/>
                <a:cs typeface="Times New Roman"/>
                <a:sym typeface="Times New Roman"/>
              </a:rPr>
              <a:t>Introduction</a:t>
            </a:r>
            <a:endParaRPr/>
          </a:p>
        </p:txBody>
      </p:sp>
      <p:sp>
        <p:nvSpPr>
          <p:cNvPr id="111" name="Google Shape;111;p16"/>
          <p:cNvSpPr txBox="1">
            <a:spLocks noGrp="1"/>
          </p:cNvSpPr>
          <p:nvPr>
            <p:ph type="body" idx="1"/>
          </p:nvPr>
        </p:nvSpPr>
        <p:spPr>
          <a:xfrm>
            <a:off x="457200" y="1600201"/>
            <a:ext cx="8229600" cy="4525963"/>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Char char="•"/>
            </a:pPr>
            <a:r>
              <a:rPr lang="en-IN"/>
              <a:t> </a:t>
            </a:r>
            <a:r>
              <a:rPr lang="en-IN" b="1"/>
              <a:t>MedBook</a:t>
            </a:r>
            <a:r>
              <a:rPr lang="en-IN"/>
              <a:t> is a web-based </a:t>
            </a:r>
            <a:r>
              <a:rPr lang="en-IN" b="1"/>
              <a:t>Doctor Appointment Booking System</a:t>
            </a:r>
            <a:r>
              <a:rPr lang="en-IN"/>
              <a:t> developed using </a:t>
            </a:r>
            <a:r>
              <a:rPr lang="en-IN" b="1"/>
              <a:t>React.js</a:t>
            </a:r>
            <a:r>
              <a:rPr lang="en-IN"/>
              <a:t>.</a:t>
            </a:r>
            <a:endParaRPr/>
          </a:p>
          <a:p>
            <a:pPr marL="342900" lvl="0" indent="-342900" algn="l" rtl="0">
              <a:spcBef>
                <a:spcPts val="448"/>
              </a:spcBef>
              <a:spcAft>
                <a:spcPts val="0"/>
              </a:spcAft>
              <a:buClr>
                <a:schemeClr val="dk1"/>
              </a:buClr>
              <a:buSzPct val="100000"/>
              <a:buChar char="•"/>
            </a:pPr>
            <a:r>
              <a:rPr lang="en-IN"/>
              <a:t> The application provides separate portals for </a:t>
            </a:r>
            <a:r>
              <a:rPr lang="en-IN" b="1"/>
              <a:t>Patients</a:t>
            </a:r>
            <a:r>
              <a:rPr lang="en-IN"/>
              <a:t> and </a:t>
            </a:r>
            <a:r>
              <a:rPr lang="en-IN" b="1"/>
              <a:t>Doctors</a:t>
            </a:r>
            <a:r>
              <a:rPr lang="en-IN"/>
              <a:t> to manage appointments efficiently.</a:t>
            </a:r>
            <a:endParaRPr/>
          </a:p>
          <a:p>
            <a:pPr marL="342900" lvl="0" indent="-342900" algn="l" rtl="0">
              <a:spcBef>
                <a:spcPts val="448"/>
              </a:spcBef>
              <a:spcAft>
                <a:spcPts val="0"/>
              </a:spcAft>
              <a:buClr>
                <a:schemeClr val="dk1"/>
              </a:buClr>
              <a:buSzPct val="100000"/>
              <a:buChar char="•"/>
            </a:pPr>
            <a:r>
              <a:rPr lang="en-IN"/>
              <a:t> Patients can register, search doctors by specialization, book appointments, track appointment status, and manage their profiles.</a:t>
            </a:r>
            <a:endParaRPr/>
          </a:p>
          <a:p>
            <a:pPr marL="342900" lvl="0" indent="-342900" algn="l" rtl="0">
              <a:spcBef>
                <a:spcPts val="448"/>
              </a:spcBef>
              <a:spcAft>
                <a:spcPts val="0"/>
              </a:spcAft>
              <a:buClr>
                <a:schemeClr val="dk1"/>
              </a:buClr>
              <a:buSzPct val="100000"/>
              <a:buChar char="•"/>
            </a:pPr>
            <a:r>
              <a:rPr lang="en-IN"/>
              <a:t> Doctors can view appointment requests, approve or reject bookings, update availability, and manage schedules.</a:t>
            </a:r>
            <a:endParaRPr/>
          </a:p>
          <a:p>
            <a:pPr marL="342900" lvl="0" indent="-342900" algn="l" rtl="0">
              <a:spcBef>
                <a:spcPts val="448"/>
              </a:spcBef>
              <a:spcAft>
                <a:spcPts val="0"/>
              </a:spcAft>
              <a:buClr>
                <a:schemeClr val="dk1"/>
              </a:buClr>
              <a:buSzPct val="100000"/>
              <a:buChar char="•"/>
            </a:pPr>
            <a:r>
              <a:rPr lang="en-IN"/>
              <a:t> The system reduces manual appointment handling, saves time, and improves communication between doctors and patients.</a:t>
            </a:r>
            <a:endParaRPr/>
          </a:p>
          <a:p>
            <a:pPr marL="342900" lvl="0" indent="-342900" algn="l" rtl="0">
              <a:spcBef>
                <a:spcPts val="448"/>
              </a:spcBef>
              <a:spcAft>
                <a:spcPts val="0"/>
              </a:spcAft>
              <a:buClr>
                <a:schemeClr val="dk1"/>
              </a:buClr>
              <a:buSzPct val="100000"/>
              <a:buChar char="•"/>
            </a:pPr>
            <a:r>
              <a:rPr lang="en-IN"/>
              <a:t> The project demonstrates modern </a:t>
            </a:r>
            <a:r>
              <a:rPr lang="en-IN" b="1"/>
              <a:t>Front-End Engineering</a:t>
            </a:r>
            <a:r>
              <a:rPr lang="en-IN"/>
              <a:t> concepts such as component-based architecture, routing, state management, reusable components, and responsive design.</a:t>
            </a:r>
            <a:endParaRPr/>
          </a:p>
          <a:p>
            <a:pPr marL="342900" lvl="0" indent="-200660" algn="l" rtl="0">
              <a:spcBef>
                <a:spcPts val="448"/>
              </a:spcBef>
              <a:spcAft>
                <a:spcPts val="0"/>
              </a:spcAft>
              <a:buClr>
                <a:schemeClr val="dk1"/>
              </a:buClr>
              <a:buSzPct val="100000"/>
              <a:buNone/>
            </a:pPr>
            <a:endParaRPr/>
          </a:p>
        </p:txBody>
      </p:sp>
      <p:pic>
        <p:nvPicPr>
          <p:cNvPr id="112" name="Google Shape;112;p16"/>
          <p:cNvPicPr preferRelativeResize="0"/>
          <p:nvPr/>
        </p:nvPicPr>
        <p:blipFill rotWithShape="1">
          <a:blip r:embed="rId3">
            <a:alphaModFix/>
          </a:blip>
          <a:src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Times New Roman"/>
              <a:buNone/>
            </a:pPr>
            <a:r>
              <a:rPr lang="en-IN" sz="3100" b="1">
                <a:solidFill>
                  <a:srgbClr val="0070C0"/>
                </a:solidFill>
                <a:latin typeface="Times New Roman"/>
                <a:ea typeface="Times New Roman"/>
                <a:cs typeface="Times New Roman"/>
                <a:sym typeface="Times New Roman"/>
              </a:rPr>
              <a:t>Problem Statement</a:t>
            </a:r>
            <a:br>
              <a:rPr lang="en-IN" b="1">
                <a:solidFill>
                  <a:srgbClr val="0070C0"/>
                </a:solidFill>
                <a:latin typeface="Times New Roman"/>
                <a:ea typeface="Times New Roman"/>
                <a:cs typeface="Times New Roman"/>
                <a:sym typeface="Times New Roman"/>
              </a:rPr>
            </a:br>
            <a:endParaRPr b="1">
              <a:solidFill>
                <a:srgbClr val="0070C0"/>
              </a:solidFill>
              <a:latin typeface="Times New Roman"/>
              <a:ea typeface="Times New Roman"/>
              <a:cs typeface="Times New Roman"/>
              <a:sym typeface="Times New Roman"/>
            </a:endParaRPr>
          </a:p>
        </p:txBody>
      </p:sp>
      <p:sp>
        <p:nvSpPr>
          <p:cNvPr id="118" name="Google Shape;118;p17"/>
          <p:cNvSpPr txBox="1">
            <a:spLocks noGrp="1"/>
          </p:cNvSpPr>
          <p:nvPr>
            <p:ph type="body" idx="1"/>
          </p:nvPr>
        </p:nvSpPr>
        <p:spPr>
          <a:xfrm>
            <a:off x="457200" y="1295401"/>
            <a:ext cx="8229600" cy="4830764"/>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Char char="•"/>
            </a:pPr>
            <a:r>
              <a:rPr lang="en-IN"/>
              <a:t>Traditional appointment booking methods are often manual, time-consuming, and inefficient.</a:t>
            </a:r>
            <a:endParaRPr/>
          </a:p>
          <a:p>
            <a:pPr marL="342900" lvl="0" indent="-342900" algn="l" rtl="0">
              <a:spcBef>
                <a:spcPts val="448"/>
              </a:spcBef>
              <a:spcAft>
                <a:spcPts val="0"/>
              </a:spcAft>
              <a:buClr>
                <a:schemeClr val="dk1"/>
              </a:buClr>
              <a:buSzPct val="100000"/>
              <a:buChar char="•"/>
            </a:pPr>
            <a:r>
              <a:rPr lang="en-IN"/>
              <a:t>Patients face difficulties in finding suitable doctors, checking     availability, and scheduling appointments conveniently.</a:t>
            </a:r>
            <a:endParaRPr/>
          </a:p>
          <a:p>
            <a:pPr marL="342900" lvl="0" indent="-342900" algn="l" rtl="0">
              <a:spcBef>
                <a:spcPts val="448"/>
              </a:spcBef>
              <a:spcAft>
                <a:spcPts val="0"/>
              </a:spcAft>
              <a:buClr>
                <a:schemeClr val="dk1"/>
              </a:buClr>
              <a:buSzPct val="100000"/>
              <a:buChar char="•"/>
            </a:pPr>
            <a:r>
              <a:rPr lang="en-IN"/>
              <a:t>Manual systems can lead to long waiting times, appointment conflicts.</a:t>
            </a:r>
            <a:endParaRPr/>
          </a:p>
          <a:p>
            <a:pPr marL="342900" lvl="0" indent="-342900" algn="l" rtl="0">
              <a:spcBef>
                <a:spcPts val="448"/>
              </a:spcBef>
              <a:spcAft>
                <a:spcPts val="0"/>
              </a:spcAft>
              <a:buClr>
                <a:schemeClr val="dk1"/>
              </a:buClr>
              <a:buSzPct val="100000"/>
              <a:buChar char="•"/>
            </a:pPr>
            <a:r>
              <a:rPr lang="en-IN"/>
              <a:t> Doctors often struggle to manage patient appointments and availability efficiently.</a:t>
            </a:r>
            <a:endParaRPr/>
          </a:p>
          <a:p>
            <a:pPr marL="342900" lvl="0" indent="-342900" algn="l" rtl="0">
              <a:spcBef>
                <a:spcPts val="448"/>
              </a:spcBef>
              <a:spcAft>
                <a:spcPts val="0"/>
              </a:spcAft>
              <a:buClr>
                <a:schemeClr val="dk1"/>
              </a:buClr>
              <a:buSzPct val="100000"/>
              <a:buChar char="•"/>
            </a:pPr>
            <a:r>
              <a:rPr lang="en-IN"/>
              <a:t>There is a need for a centralized digital platform that simplifies appointment scheduling and improves communication between patients and doctors.</a:t>
            </a:r>
            <a:endParaRPr/>
          </a:p>
          <a:p>
            <a:pPr marL="342900" lvl="0" indent="-342900" algn="l" rtl="0">
              <a:spcBef>
                <a:spcPts val="448"/>
              </a:spcBef>
              <a:spcAft>
                <a:spcPts val="0"/>
              </a:spcAft>
              <a:buClr>
                <a:schemeClr val="dk1"/>
              </a:buClr>
              <a:buSzPct val="100000"/>
              <a:buChar char="•"/>
            </a:pPr>
            <a:r>
              <a:rPr lang="en-IN"/>
              <a:t>The proposed </a:t>
            </a:r>
            <a:r>
              <a:rPr lang="en-IN" b="1"/>
              <a:t>Doctor Appointment Booking System (MedBook)</a:t>
            </a:r>
            <a:r>
              <a:rPr lang="en-IN"/>
              <a:t> provides an online solution for doctor search, appointment booking, status tracking, profile management, and schedule management through a user-friendly interface.</a:t>
            </a:r>
            <a:endParaRPr/>
          </a:p>
          <a:p>
            <a:pPr marL="342900" lvl="0" indent="-200660" algn="l" rtl="0">
              <a:spcBef>
                <a:spcPts val="448"/>
              </a:spcBef>
              <a:spcAft>
                <a:spcPts val="0"/>
              </a:spcAft>
              <a:buClr>
                <a:schemeClr val="dk1"/>
              </a:buClr>
              <a:buSzPct val="100000"/>
              <a:buNone/>
            </a:pPr>
            <a:endParaRPr/>
          </a:p>
        </p:txBody>
      </p:sp>
      <p:pic>
        <p:nvPicPr>
          <p:cNvPr id="119" name="Google Shape;119;p17"/>
          <p:cNvPicPr preferRelativeResize="0"/>
          <p:nvPr/>
        </p:nvPicPr>
        <p:blipFill rotWithShape="1">
          <a:blip r:embed="rId3">
            <a:alphaModFix/>
          </a:blip>
          <a:srcRect/>
          <a:stretch/>
        </p:blipFill>
        <p:spPr>
          <a:xfrm>
            <a:off x="228600" y="228599"/>
            <a:ext cx="1371600" cy="6096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8"/>
          <p:cNvSpPr txBox="1">
            <a:spLocks noGrp="1"/>
          </p:cNvSpPr>
          <p:nvPr>
            <p:ph type="title"/>
          </p:nvPr>
        </p:nvSpPr>
        <p:spPr>
          <a:xfrm>
            <a:off x="304800" y="-150019"/>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70C0"/>
              </a:buClr>
              <a:buSzPts val="2800"/>
              <a:buFont typeface="Times New Roman"/>
              <a:buNone/>
            </a:pPr>
            <a:r>
              <a:rPr lang="en-IN" sz="2800" b="1">
                <a:solidFill>
                  <a:srgbClr val="0070C0"/>
                </a:solidFill>
                <a:latin typeface="Times New Roman"/>
                <a:ea typeface="Times New Roman"/>
                <a:cs typeface="Times New Roman"/>
                <a:sym typeface="Times New Roman"/>
              </a:rPr>
              <a:t>Project Flow Diagram</a:t>
            </a:r>
            <a:endParaRPr/>
          </a:p>
        </p:txBody>
      </p:sp>
      <p:pic>
        <p:nvPicPr>
          <p:cNvPr id="125" name="Google Shape;125;p18"/>
          <p:cNvPicPr preferRelativeResize="0">
            <a:picLocks noGrp="1"/>
          </p:cNvPicPr>
          <p:nvPr>
            <p:ph type="body" idx="1"/>
          </p:nvPr>
        </p:nvPicPr>
        <p:blipFill rotWithShape="1">
          <a:blip r:embed="rId3">
            <a:alphaModFix/>
          </a:blip>
          <a:srcRect/>
          <a:stretch/>
        </p:blipFill>
        <p:spPr>
          <a:xfrm>
            <a:off x="228600" y="989967"/>
            <a:ext cx="8610600" cy="5791833"/>
          </a:xfrm>
          <a:prstGeom prst="rect">
            <a:avLst/>
          </a:prstGeom>
          <a:noFill/>
          <a:ln>
            <a:noFill/>
          </a:ln>
        </p:spPr>
      </p:pic>
      <p:pic>
        <p:nvPicPr>
          <p:cNvPr id="126" name="Google Shape;126;p18"/>
          <p:cNvPicPr preferRelativeResize="0"/>
          <p:nvPr/>
        </p:nvPicPr>
        <p:blipFill rotWithShape="1">
          <a:blip r:embed="rId4">
            <a:alphaModFix/>
          </a:blip>
          <a:srcRect/>
          <a:stretch/>
        </p:blipFill>
        <p:spPr>
          <a:xfrm>
            <a:off x="228600" y="157795"/>
            <a:ext cx="1447800" cy="6096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9"/>
          <p:cNvSpPr txBox="1">
            <a:spLocks noGrp="1"/>
          </p:cNvSpPr>
          <p:nvPr>
            <p:ph type="title"/>
          </p:nvPr>
        </p:nvSpPr>
        <p:spPr>
          <a:xfrm>
            <a:off x="1066800" y="274638"/>
            <a:ext cx="7848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Times New Roman"/>
              <a:buNone/>
            </a:pPr>
            <a:r>
              <a:rPr lang="en-IN" sz="3100" b="1">
                <a:solidFill>
                  <a:srgbClr val="0070C0"/>
                </a:solidFill>
                <a:latin typeface="Times New Roman"/>
                <a:ea typeface="Times New Roman"/>
                <a:cs typeface="Times New Roman"/>
                <a:sym typeface="Times New Roman"/>
              </a:rPr>
              <a:t>Objectives with Justification</a:t>
            </a:r>
            <a:br>
              <a:rPr lang="en-IN" b="1">
                <a:solidFill>
                  <a:srgbClr val="0070C0"/>
                </a:solidFill>
                <a:latin typeface="Times New Roman"/>
                <a:ea typeface="Times New Roman"/>
                <a:cs typeface="Times New Roman"/>
                <a:sym typeface="Times New Roman"/>
              </a:rPr>
            </a:br>
            <a:endParaRPr b="1">
              <a:solidFill>
                <a:srgbClr val="0070C0"/>
              </a:solidFill>
              <a:latin typeface="Times New Roman"/>
              <a:ea typeface="Times New Roman"/>
              <a:cs typeface="Times New Roman"/>
              <a:sym typeface="Times New Roman"/>
            </a:endParaRPr>
          </a:p>
        </p:txBody>
      </p:sp>
      <p:sp>
        <p:nvSpPr>
          <p:cNvPr id="132" name="Google Shape;132;p19"/>
          <p:cNvSpPr txBox="1">
            <a:spLocks noGrp="1"/>
          </p:cNvSpPr>
          <p:nvPr>
            <p:ph type="body" idx="1"/>
          </p:nvPr>
        </p:nvSpPr>
        <p:spPr>
          <a:xfrm>
            <a:off x="457200" y="1295401"/>
            <a:ext cx="8229600" cy="4830764"/>
          </a:xfrm>
          <a:prstGeom prst="rect">
            <a:avLst/>
          </a:prstGeom>
          <a:noFill/>
          <a:ln>
            <a:noFill/>
          </a:ln>
        </p:spPr>
        <p:txBody>
          <a:bodyPr spcFirstLastPara="1" wrap="square" lIns="91425" tIns="45700" rIns="91425" bIns="45700" anchor="t" anchorCtr="0">
            <a:normAutofit fontScale="62500" lnSpcReduction="20000"/>
          </a:bodyPr>
          <a:lstStyle/>
          <a:p>
            <a:pPr marL="0" lvl="0" indent="0" algn="l" rtl="0">
              <a:spcBef>
                <a:spcPts val="0"/>
              </a:spcBef>
              <a:spcAft>
                <a:spcPts val="0"/>
              </a:spcAft>
              <a:buClr>
                <a:schemeClr val="dk1"/>
              </a:buClr>
              <a:buSzPct val="100000"/>
              <a:buNone/>
            </a:pPr>
            <a:r>
              <a:rPr lang="en-IN"/>
              <a:t>• </a:t>
            </a:r>
            <a:r>
              <a:rPr lang="en-IN" b="1"/>
              <a:t>Provide online appointment booking</a:t>
            </a:r>
            <a:r>
              <a:rPr lang="en-IN"/>
              <a:t> – Reduces manual scheduling and saves time. </a:t>
            </a:r>
            <a:endParaRPr/>
          </a:p>
          <a:p>
            <a:pPr marL="0" lvl="0" indent="0" algn="l" rtl="0">
              <a:spcBef>
                <a:spcPts val="400"/>
              </a:spcBef>
              <a:spcAft>
                <a:spcPts val="0"/>
              </a:spcAft>
              <a:buClr>
                <a:schemeClr val="dk1"/>
              </a:buClr>
              <a:buSzPct val="100000"/>
              <a:buNone/>
            </a:pPr>
            <a:endParaRPr/>
          </a:p>
          <a:p>
            <a:pPr marL="0" lvl="0" indent="0" algn="l" rtl="0">
              <a:spcBef>
                <a:spcPts val="400"/>
              </a:spcBef>
              <a:spcAft>
                <a:spcPts val="0"/>
              </a:spcAft>
              <a:buClr>
                <a:schemeClr val="dk1"/>
              </a:buClr>
              <a:buSzPct val="100000"/>
              <a:buNone/>
            </a:pPr>
            <a:r>
              <a:rPr lang="en-IN"/>
              <a:t>• </a:t>
            </a:r>
            <a:r>
              <a:rPr lang="en-IN" b="1"/>
              <a:t>Separate Patient and Doctor portals</a:t>
            </a:r>
            <a:r>
              <a:rPr lang="en-IN"/>
              <a:t> – Ensures efficient role-based management.</a:t>
            </a:r>
            <a:endParaRPr/>
          </a:p>
          <a:p>
            <a:pPr marL="0" lvl="0" indent="0" algn="l" rtl="0">
              <a:spcBef>
                <a:spcPts val="400"/>
              </a:spcBef>
              <a:spcAft>
                <a:spcPts val="0"/>
              </a:spcAft>
              <a:buClr>
                <a:schemeClr val="dk1"/>
              </a:buClr>
              <a:buSzPct val="100000"/>
              <a:buNone/>
            </a:pPr>
            <a:r>
              <a:rPr lang="en-IN"/>
              <a:t>• </a:t>
            </a:r>
            <a:r>
              <a:rPr lang="en-IN" b="1"/>
              <a:t>Enable doctor search and filtering</a:t>
            </a:r>
            <a:r>
              <a:rPr lang="en-IN"/>
              <a:t> – Helps patients find suitable doctors easily.</a:t>
            </a:r>
            <a:endParaRPr/>
          </a:p>
          <a:p>
            <a:pPr marL="0" lvl="0" indent="0" algn="l" rtl="0">
              <a:spcBef>
                <a:spcPts val="400"/>
              </a:spcBef>
              <a:spcAft>
                <a:spcPts val="0"/>
              </a:spcAft>
              <a:buClr>
                <a:schemeClr val="dk1"/>
              </a:buClr>
              <a:buSzPct val="100000"/>
              <a:buNone/>
            </a:pPr>
            <a:endParaRPr/>
          </a:p>
          <a:p>
            <a:pPr marL="0" lvl="0" indent="0" algn="l" rtl="0">
              <a:spcBef>
                <a:spcPts val="400"/>
              </a:spcBef>
              <a:spcAft>
                <a:spcPts val="0"/>
              </a:spcAft>
              <a:buClr>
                <a:schemeClr val="dk1"/>
              </a:buClr>
              <a:buSzPct val="100000"/>
              <a:buNone/>
            </a:pPr>
            <a:r>
              <a:rPr lang="en-IN"/>
              <a:t>• </a:t>
            </a:r>
            <a:r>
              <a:rPr lang="en-IN" b="1"/>
              <a:t>Manage appointments effectively</a:t>
            </a:r>
            <a:r>
              <a:rPr lang="en-IN"/>
              <a:t> – Allows booking, tracking, and cancellation.</a:t>
            </a:r>
            <a:endParaRPr/>
          </a:p>
          <a:p>
            <a:pPr marL="0" lvl="0" indent="0" algn="l" rtl="0">
              <a:spcBef>
                <a:spcPts val="400"/>
              </a:spcBef>
              <a:spcAft>
                <a:spcPts val="0"/>
              </a:spcAft>
              <a:buClr>
                <a:schemeClr val="dk1"/>
              </a:buClr>
              <a:buSzPct val="100000"/>
              <a:buNone/>
            </a:pPr>
            <a:endParaRPr/>
          </a:p>
          <a:p>
            <a:pPr marL="0" lvl="0" indent="0" algn="l" rtl="0">
              <a:spcBef>
                <a:spcPts val="400"/>
              </a:spcBef>
              <a:spcAft>
                <a:spcPts val="0"/>
              </a:spcAft>
              <a:buClr>
                <a:schemeClr val="dk1"/>
              </a:buClr>
              <a:buSzPct val="100000"/>
              <a:buNone/>
            </a:pPr>
            <a:r>
              <a:rPr lang="en-IN"/>
              <a:t>• </a:t>
            </a:r>
            <a:r>
              <a:rPr lang="en-IN" b="1"/>
              <a:t>Support doctor availability management</a:t>
            </a:r>
            <a:r>
              <a:rPr lang="en-IN"/>
              <a:t> – Helps doctors organize their schedules.</a:t>
            </a:r>
            <a:endParaRPr/>
          </a:p>
          <a:p>
            <a:pPr marL="0" lvl="0" indent="0" algn="l" rtl="0">
              <a:spcBef>
                <a:spcPts val="400"/>
              </a:spcBef>
              <a:spcAft>
                <a:spcPts val="0"/>
              </a:spcAft>
              <a:buClr>
                <a:schemeClr val="dk1"/>
              </a:buClr>
              <a:buSzPct val="100000"/>
              <a:buNone/>
            </a:pPr>
            <a:endParaRPr/>
          </a:p>
          <a:p>
            <a:pPr marL="0" lvl="0" indent="0" algn="l" rtl="0">
              <a:spcBef>
                <a:spcPts val="400"/>
              </a:spcBef>
              <a:spcAft>
                <a:spcPts val="0"/>
              </a:spcAft>
              <a:buClr>
                <a:schemeClr val="dk1"/>
              </a:buClr>
              <a:buSzPct val="100000"/>
              <a:buNone/>
            </a:pPr>
            <a:r>
              <a:rPr lang="en-IN"/>
              <a:t>• </a:t>
            </a:r>
            <a:r>
              <a:rPr lang="en-IN" b="1"/>
              <a:t>Develop a responsive React-based application</a:t>
            </a:r>
            <a:r>
              <a:rPr lang="en-IN"/>
              <a:t> – Demonstrates modern Front-End Engineering concepts.</a:t>
            </a:r>
            <a:endParaRPr/>
          </a:p>
          <a:p>
            <a:pPr marL="342900" lvl="0" indent="-215900" algn="l" rtl="0">
              <a:spcBef>
                <a:spcPts val="400"/>
              </a:spcBef>
              <a:spcAft>
                <a:spcPts val="0"/>
              </a:spcAft>
              <a:buClr>
                <a:schemeClr val="dk1"/>
              </a:buClr>
              <a:buSzPct val="100000"/>
              <a:buNone/>
            </a:pPr>
            <a:endParaRPr/>
          </a:p>
        </p:txBody>
      </p:sp>
      <p:pic>
        <p:nvPicPr>
          <p:cNvPr id="133" name="Google Shape;133;p19"/>
          <p:cNvPicPr preferRelativeResize="0"/>
          <p:nvPr/>
        </p:nvPicPr>
        <p:blipFill rotWithShape="1">
          <a:blip r:embed="rId3">
            <a:alphaModFix/>
          </a:blip>
          <a:srcRect/>
          <a:stretch/>
        </p:blipFill>
        <p:spPr>
          <a:xfrm>
            <a:off x="228600" y="228599"/>
            <a:ext cx="1295400" cy="6858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pic>
        <p:nvPicPr>
          <p:cNvPr id="139" name="Google Shape;139;p20"/>
          <p:cNvPicPr preferRelativeResize="0"/>
          <p:nvPr/>
        </p:nvPicPr>
        <p:blipFill rotWithShape="1">
          <a:blip r:embed="rId4">
            <a:alphaModFix/>
          </a:blip>
          <a:srcRect l="5173" r="5173"/>
          <a:stretch/>
        </p:blipFill>
        <p:spPr>
          <a:xfrm>
            <a:off x="228600" y="228600"/>
            <a:ext cx="1295400" cy="685800"/>
          </a:xfrm>
          <a:prstGeom prst="rect">
            <a:avLst/>
          </a:prstGeom>
          <a:noFill/>
          <a:ln>
            <a:noFill/>
          </a:ln>
        </p:spPr>
      </p:pic>
      <p:sp>
        <p:nvSpPr>
          <p:cNvPr id="140" name="Google Shape;140;p20"/>
          <p:cNvSpPr txBox="1">
            <a:spLocks noGrp="1"/>
          </p:cNvSpPr>
          <p:nvPr>
            <p:ph type="title"/>
          </p:nvPr>
        </p:nvSpPr>
        <p:spPr>
          <a:xfrm>
            <a:off x="1066800" y="274638"/>
            <a:ext cx="7848600" cy="1143000"/>
          </a:xfrm>
          <a:prstGeom prst="rect">
            <a:avLst/>
          </a:prstGeom>
          <a:solidFill>
            <a:srgbClr val="000000">
              <a:alpha val="0"/>
            </a:srgbClr>
          </a:solidFill>
          <a:ln>
            <a:noFill/>
          </a:ln>
        </p:spPr>
        <p:txBody>
          <a:bodyPr spcFirstLastPara="1" wrap="square" lIns="91400" tIns="45700" rIns="91400" bIns="45700" anchor="ctr" anchorCtr="0">
            <a:normAutofit/>
          </a:bodyPr>
          <a:lstStyle/>
          <a:p>
            <a:pPr marL="0" lvl="0" indent="0" algn="ctr" rtl="0">
              <a:spcBef>
                <a:spcPts val="0"/>
              </a:spcBef>
              <a:spcAft>
                <a:spcPts val="0"/>
              </a:spcAft>
              <a:buNone/>
            </a:pPr>
            <a:r>
              <a:rPr lang="en-IN" sz="2800" b="1">
                <a:solidFill>
                  <a:srgbClr val="0070C0"/>
                </a:solidFill>
                <a:latin typeface="Times New Roman"/>
                <a:ea typeface="Times New Roman"/>
                <a:cs typeface="Times New Roman"/>
                <a:sym typeface="Times New Roman"/>
              </a:rPr>
              <a:t>Course Outcomes (COs) Applied in the Project</a:t>
            </a:r>
            <a:endParaRPr sz="2800" b="1">
              <a:solidFill>
                <a:srgbClr val="0070C0"/>
              </a:solidFill>
              <a:latin typeface="Times New Roman"/>
              <a:ea typeface="Times New Roman"/>
              <a:cs typeface="Times New Roman"/>
              <a:sym typeface="Times New Roman"/>
            </a:endParaRPr>
          </a:p>
        </p:txBody>
      </p:sp>
      <p:sp>
        <p:nvSpPr>
          <p:cNvPr id="141" name="Google Shape;141;p20"/>
          <p:cNvSpPr txBox="1">
            <a:spLocks noGrp="1"/>
          </p:cNvSpPr>
          <p:nvPr>
            <p:ph type="body" idx="1"/>
          </p:nvPr>
        </p:nvSpPr>
        <p:spPr>
          <a:xfrm>
            <a:off x="457200" y="1333500"/>
            <a:ext cx="8229600" cy="4953000"/>
          </a:xfrm>
          <a:prstGeom prst="rect">
            <a:avLst/>
          </a:prstGeom>
          <a:solidFill>
            <a:srgbClr val="000000">
              <a:alpha val="0"/>
            </a:srgbClr>
          </a:solidFill>
          <a:ln>
            <a:noFill/>
          </a:ln>
        </p:spPr>
        <p:txBody>
          <a:bodyPr spcFirstLastPara="1" wrap="square" lIns="91400" tIns="45700" rIns="91400" bIns="45700" anchor="t" anchorCtr="0">
            <a:normAutofit/>
          </a:bodyPr>
          <a:lstStyle/>
          <a:p>
            <a:pPr marL="0" lvl="0" indent="0" algn="l" rtl="0">
              <a:spcBef>
                <a:spcPts val="360"/>
              </a:spcBef>
              <a:spcAft>
                <a:spcPts val="0"/>
              </a:spcAft>
              <a:buNone/>
            </a:pPr>
            <a:r>
              <a:rPr lang="en-IN" sz="1203" b="1">
                <a:solidFill>
                  <a:srgbClr val="0070C0"/>
                </a:solidFill>
                <a:latin typeface="Calibri"/>
                <a:ea typeface="Calibri"/>
                <a:cs typeface="Calibri"/>
                <a:sym typeface="Calibri"/>
              </a:rPr>
              <a:t>CO1 – Front-End Engineering &amp; Framework Design</a:t>
            </a:r>
            <a:endParaRPr sz="1203" b="0">
              <a:solidFill>
                <a:srgbClr val="000000"/>
              </a:solidFill>
              <a:latin typeface="Calibri"/>
              <a:ea typeface="Calibri"/>
              <a:cs typeface="Calibri"/>
              <a:sym typeface="Calibri"/>
            </a:endParaRPr>
          </a:p>
          <a:p>
            <a:pPr marL="457200" lvl="0" indent="-304959" algn="l" rtl="0">
              <a:spcBef>
                <a:spcPts val="600"/>
              </a:spcBef>
              <a:spcAft>
                <a:spcPts val="0"/>
              </a:spcAft>
              <a:buClr>
                <a:srgbClr val="000000"/>
              </a:buClr>
              <a:buSzPts val="1203"/>
              <a:buFont typeface="Calibri"/>
              <a:buChar char="●"/>
            </a:pPr>
            <a:r>
              <a:rPr lang="en-IN" sz="1203" b="0">
                <a:solidFill>
                  <a:srgbClr val="000000"/>
                </a:solidFill>
                <a:latin typeface="Calibri"/>
                <a:ea typeface="Calibri"/>
                <a:cs typeface="Calibri"/>
                <a:sym typeface="Calibri"/>
              </a:rPr>
              <a:t>Used React’s component-based architecture and declarative UI.</a:t>
            </a:r>
            <a:endParaRPr sz="1203" b="0">
              <a:solidFill>
                <a:srgbClr val="000000"/>
              </a:solidFill>
              <a:latin typeface="Calibri"/>
              <a:ea typeface="Calibri"/>
              <a:cs typeface="Calibri"/>
              <a:sym typeface="Calibri"/>
            </a:endParaRPr>
          </a:p>
          <a:p>
            <a:pPr marL="457200" lvl="0" indent="-304959" algn="l" rtl="0">
              <a:spcBef>
                <a:spcPts val="360"/>
              </a:spcBef>
              <a:spcAft>
                <a:spcPts val="0"/>
              </a:spcAft>
              <a:buClr>
                <a:srgbClr val="000000"/>
              </a:buClr>
              <a:buSzPts val="1203"/>
              <a:buFont typeface="Calibri"/>
              <a:buChar char="●"/>
            </a:pPr>
            <a:r>
              <a:rPr lang="en-IN" sz="1203" b="0">
                <a:solidFill>
                  <a:srgbClr val="000000"/>
                </a:solidFill>
                <a:latin typeface="Calibri"/>
                <a:ea typeface="Calibri"/>
                <a:cs typeface="Calibri"/>
                <a:sym typeface="Calibri"/>
              </a:rPr>
              <a:t>Implemented reusable components and unidirectional data flow.</a:t>
            </a:r>
            <a:endParaRPr sz="1203" b="0">
              <a:solidFill>
                <a:srgbClr val="000000"/>
              </a:solidFill>
              <a:latin typeface="Calibri"/>
              <a:ea typeface="Calibri"/>
              <a:cs typeface="Calibri"/>
              <a:sym typeface="Calibri"/>
            </a:endParaRPr>
          </a:p>
          <a:p>
            <a:pPr marL="0" lvl="0" indent="0" algn="l" rtl="0">
              <a:spcBef>
                <a:spcPts val="900"/>
              </a:spcBef>
              <a:spcAft>
                <a:spcPts val="0"/>
              </a:spcAft>
              <a:buNone/>
            </a:pPr>
            <a:r>
              <a:rPr lang="en-IN" sz="1203" b="1">
                <a:solidFill>
                  <a:srgbClr val="0070C0"/>
                </a:solidFill>
                <a:latin typeface="Calibri"/>
                <a:ea typeface="Calibri"/>
                <a:cs typeface="Calibri"/>
                <a:sym typeface="Calibri"/>
              </a:rPr>
              <a:t>CO2 – JavaScript &amp; TypeScript Engineering</a:t>
            </a:r>
            <a:endParaRPr sz="1203" b="0">
              <a:solidFill>
                <a:srgbClr val="000000"/>
              </a:solidFill>
              <a:latin typeface="Calibri"/>
              <a:ea typeface="Calibri"/>
              <a:cs typeface="Calibri"/>
              <a:sym typeface="Calibri"/>
            </a:endParaRPr>
          </a:p>
          <a:p>
            <a:pPr marL="457200" lvl="0" indent="-304959" algn="l" rtl="0">
              <a:spcBef>
                <a:spcPts val="600"/>
              </a:spcBef>
              <a:spcAft>
                <a:spcPts val="0"/>
              </a:spcAft>
              <a:buClr>
                <a:srgbClr val="000000"/>
              </a:buClr>
              <a:buSzPts val="1203"/>
              <a:buFont typeface="Calibri"/>
              <a:buChar char="●"/>
            </a:pPr>
            <a:r>
              <a:rPr lang="en-IN" sz="1203" b="0">
                <a:solidFill>
                  <a:srgbClr val="000000"/>
                </a:solidFill>
                <a:latin typeface="Calibri"/>
                <a:ea typeface="Calibri"/>
                <a:cs typeface="Calibri"/>
                <a:sym typeface="Calibri"/>
              </a:rPr>
              <a:t>Applied ES6+ features such as modules, arrow functions, async/await, promises, and API handling.</a:t>
            </a:r>
            <a:endParaRPr sz="1203" b="0">
              <a:solidFill>
                <a:srgbClr val="000000"/>
              </a:solidFill>
              <a:latin typeface="Calibri"/>
              <a:ea typeface="Calibri"/>
              <a:cs typeface="Calibri"/>
              <a:sym typeface="Calibri"/>
            </a:endParaRPr>
          </a:p>
          <a:p>
            <a:pPr marL="457200" lvl="0" indent="-304959" algn="l" rtl="0">
              <a:spcBef>
                <a:spcPts val="360"/>
              </a:spcBef>
              <a:spcAft>
                <a:spcPts val="0"/>
              </a:spcAft>
              <a:buClr>
                <a:srgbClr val="000000"/>
              </a:buClr>
              <a:buSzPts val="1203"/>
              <a:buFont typeface="Calibri"/>
              <a:buChar char="●"/>
            </a:pPr>
            <a:r>
              <a:rPr lang="en-IN" sz="1203" b="0">
                <a:solidFill>
                  <a:srgbClr val="000000"/>
                </a:solidFill>
                <a:latin typeface="Calibri"/>
                <a:ea typeface="Calibri"/>
                <a:cs typeface="Calibri"/>
                <a:sym typeface="Calibri"/>
              </a:rPr>
              <a:t>Organized the project into modular and maintainable code.</a:t>
            </a:r>
            <a:endParaRPr sz="1203" b="0">
              <a:solidFill>
                <a:srgbClr val="000000"/>
              </a:solidFill>
              <a:latin typeface="Calibri"/>
              <a:ea typeface="Calibri"/>
              <a:cs typeface="Calibri"/>
              <a:sym typeface="Calibri"/>
            </a:endParaRPr>
          </a:p>
          <a:p>
            <a:pPr marL="0" lvl="0" indent="0" algn="l" rtl="0">
              <a:spcBef>
                <a:spcPts val="900"/>
              </a:spcBef>
              <a:spcAft>
                <a:spcPts val="0"/>
              </a:spcAft>
              <a:buNone/>
            </a:pPr>
            <a:r>
              <a:rPr lang="en-IN" sz="1203" b="1">
                <a:solidFill>
                  <a:srgbClr val="0070C0"/>
                </a:solidFill>
                <a:latin typeface="Calibri"/>
                <a:ea typeface="Calibri"/>
                <a:cs typeface="Calibri"/>
                <a:sym typeface="Calibri"/>
              </a:rPr>
              <a:t>CO3 – React Component Model</a:t>
            </a:r>
            <a:endParaRPr sz="1203" b="0">
              <a:solidFill>
                <a:srgbClr val="000000"/>
              </a:solidFill>
              <a:latin typeface="Calibri"/>
              <a:ea typeface="Calibri"/>
              <a:cs typeface="Calibri"/>
              <a:sym typeface="Calibri"/>
            </a:endParaRPr>
          </a:p>
          <a:p>
            <a:pPr marL="457200" lvl="0" indent="-304959" algn="l" rtl="0">
              <a:spcBef>
                <a:spcPts val="600"/>
              </a:spcBef>
              <a:spcAft>
                <a:spcPts val="0"/>
              </a:spcAft>
              <a:buClr>
                <a:srgbClr val="000000"/>
              </a:buClr>
              <a:buSzPts val="1203"/>
              <a:buFont typeface="Calibri"/>
              <a:buChar char="●"/>
            </a:pPr>
            <a:r>
              <a:rPr lang="en-IN" sz="1203" b="0">
                <a:solidFill>
                  <a:srgbClr val="000000"/>
                </a:solidFill>
                <a:latin typeface="Calibri"/>
                <a:ea typeface="Calibri"/>
                <a:cs typeface="Calibri"/>
                <a:sym typeface="Calibri"/>
              </a:rPr>
              <a:t>Built reusable components for Login, Doctor List, Appointment Booking, Dashboard, and Profile.</a:t>
            </a:r>
            <a:endParaRPr sz="1203" b="0">
              <a:solidFill>
                <a:srgbClr val="000000"/>
              </a:solidFill>
              <a:latin typeface="Calibri"/>
              <a:ea typeface="Calibri"/>
              <a:cs typeface="Calibri"/>
              <a:sym typeface="Calibri"/>
            </a:endParaRPr>
          </a:p>
          <a:p>
            <a:pPr marL="457200" lvl="0" indent="-304959" algn="l" rtl="0">
              <a:spcBef>
                <a:spcPts val="360"/>
              </a:spcBef>
              <a:spcAft>
                <a:spcPts val="0"/>
              </a:spcAft>
              <a:buClr>
                <a:srgbClr val="000000"/>
              </a:buClr>
              <a:buSzPts val="1203"/>
              <a:buFont typeface="Calibri"/>
              <a:buChar char="●"/>
            </a:pPr>
            <a:r>
              <a:rPr lang="en-IN" sz="1203" b="0">
                <a:solidFill>
                  <a:srgbClr val="000000"/>
                </a:solidFill>
                <a:latin typeface="Calibri"/>
                <a:ea typeface="Calibri"/>
                <a:cs typeface="Calibri"/>
                <a:sym typeface="Calibri"/>
              </a:rPr>
              <a:t>Used props, state, hooks, and component composition.</a:t>
            </a:r>
            <a:endParaRPr sz="1203" b="0">
              <a:solidFill>
                <a:srgbClr val="000000"/>
              </a:solidFill>
              <a:latin typeface="Calibri"/>
              <a:ea typeface="Calibri"/>
              <a:cs typeface="Calibri"/>
              <a:sym typeface="Calibri"/>
            </a:endParaRPr>
          </a:p>
          <a:p>
            <a:pPr marL="0" lvl="0" indent="0" algn="l" rtl="0">
              <a:spcBef>
                <a:spcPts val="900"/>
              </a:spcBef>
              <a:spcAft>
                <a:spcPts val="0"/>
              </a:spcAft>
              <a:buNone/>
            </a:pPr>
            <a:r>
              <a:rPr lang="en-IN" sz="1203" b="1">
                <a:solidFill>
                  <a:srgbClr val="0070C0"/>
                </a:solidFill>
                <a:latin typeface="Calibri"/>
                <a:ea typeface="Calibri"/>
                <a:cs typeface="Calibri"/>
                <a:sym typeface="Calibri"/>
              </a:rPr>
              <a:t>CO4 – State Management &amp; API Integration</a:t>
            </a:r>
            <a:endParaRPr sz="1203" b="0">
              <a:solidFill>
                <a:srgbClr val="000000"/>
              </a:solidFill>
              <a:latin typeface="Calibri"/>
              <a:ea typeface="Calibri"/>
              <a:cs typeface="Calibri"/>
              <a:sym typeface="Calibri"/>
            </a:endParaRPr>
          </a:p>
          <a:p>
            <a:pPr marL="457200" lvl="0" indent="-304959" algn="l" rtl="0">
              <a:spcBef>
                <a:spcPts val="600"/>
              </a:spcBef>
              <a:spcAft>
                <a:spcPts val="0"/>
              </a:spcAft>
              <a:buClr>
                <a:srgbClr val="000000"/>
              </a:buClr>
              <a:buSzPts val="1203"/>
              <a:buFont typeface="Calibri"/>
              <a:buChar char="●"/>
            </a:pPr>
            <a:r>
              <a:rPr lang="en-IN" sz="1203" b="0">
                <a:solidFill>
                  <a:srgbClr val="000000"/>
                </a:solidFill>
                <a:latin typeface="Calibri"/>
                <a:ea typeface="Calibri"/>
                <a:cs typeface="Calibri"/>
                <a:sym typeface="Calibri"/>
              </a:rPr>
              <a:t>Managed appointment data, user sessions, doctor availability, and booking status.</a:t>
            </a:r>
            <a:endParaRPr sz="1203" b="0">
              <a:solidFill>
                <a:srgbClr val="000000"/>
              </a:solidFill>
              <a:latin typeface="Calibri"/>
              <a:ea typeface="Calibri"/>
              <a:cs typeface="Calibri"/>
              <a:sym typeface="Calibri"/>
            </a:endParaRPr>
          </a:p>
          <a:p>
            <a:pPr marL="457200" lvl="0" indent="-304959" algn="l" rtl="0">
              <a:spcBef>
                <a:spcPts val="360"/>
              </a:spcBef>
              <a:spcAft>
                <a:spcPts val="0"/>
              </a:spcAft>
              <a:buClr>
                <a:srgbClr val="000000"/>
              </a:buClr>
              <a:buSzPts val="1203"/>
              <a:buFont typeface="Calibri"/>
              <a:buChar char="●"/>
            </a:pPr>
            <a:r>
              <a:rPr lang="en-IN" sz="1203" b="0">
                <a:solidFill>
                  <a:srgbClr val="000000"/>
                </a:solidFill>
                <a:latin typeface="Calibri"/>
                <a:ea typeface="Calibri"/>
                <a:cs typeface="Calibri"/>
                <a:sym typeface="Calibri"/>
              </a:rPr>
              <a:t>Integrated APIs and handled asynchronous operations using React Hooks.</a:t>
            </a:r>
            <a:endParaRPr sz="1203" b="0">
              <a:solidFill>
                <a:srgbClr val="000000"/>
              </a:solidFill>
              <a:latin typeface="Calibri"/>
              <a:ea typeface="Calibri"/>
              <a:cs typeface="Calibri"/>
              <a:sym typeface="Calibri"/>
            </a:endParaRPr>
          </a:p>
          <a:p>
            <a:pPr marL="0" lvl="0" indent="0" algn="l" rtl="0">
              <a:spcBef>
                <a:spcPts val="900"/>
              </a:spcBef>
              <a:spcAft>
                <a:spcPts val="0"/>
              </a:spcAft>
              <a:buNone/>
            </a:pPr>
            <a:r>
              <a:rPr lang="en-IN" sz="1203" b="1">
                <a:solidFill>
                  <a:srgbClr val="0070C0"/>
                </a:solidFill>
                <a:latin typeface="Calibri"/>
                <a:ea typeface="Calibri"/>
                <a:cs typeface="Calibri"/>
                <a:sym typeface="Calibri"/>
              </a:rPr>
              <a:t>CO5 – Routing, Forms &amp; Performance</a:t>
            </a:r>
            <a:endParaRPr sz="1203" b="0">
              <a:solidFill>
                <a:srgbClr val="000000"/>
              </a:solidFill>
              <a:latin typeface="Calibri"/>
              <a:ea typeface="Calibri"/>
              <a:cs typeface="Calibri"/>
              <a:sym typeface="Calibri"/>
            </a:endParaRPr>
          </a:p>
          <a:p>
            <a:pPr marL="457200" lvl="0" indent="-304959" algn="l" rtl="0">
              <a:spcBef>
                <a:spcPts val="600"/>
              </a:spcBef>
              <a:spcAft>
                <a:spcPts val="0"/>
              </a:spcAft>
              <a:buClr>
                <a:srgbClr val="000000"/>
              </a:buClr>
              <a:buSzPts val="1203"/>
              <a:buFont typeface="Calibri"/>
              <a:buChar char="●"/>
            </a:pPr>
            <a:r>
              <a:rPr lang="en-IN" sz="1203" b="0">
                <a:solidFill>
                  <a:srgbClr val="000000"/>
                </a:solidFill>
                <a:latin typeface="Calibri"/>
                <a:ea typeface="Calibri"/>
                <a:cs typeface="Calibri"/>
                <a:sym typeface="Calibri"/>
              </a:rPr>
              <a:t>Implemented React Router for navigation.</a:t>
            </a:r>
            <a:endParaRPr sz="1203" b="0">
              <a:solidFill>
                <a:srgbClr val="000000"/>
              </a:solidFill>
              <a:latin typeface="Calibri"/>
              <a:ea typeface="Calibri"/>
              <a:cs typeface="Calibri"/>
              <a:sym typeface="Calibri"/>
            </a:endParaRPr>
          </a:p>
          <a:p>
            <a:pPr marL="457200" lvl="0" indent="-304959" algn="l" rtl="0">
              <a:spcBef>
                <a:spcPts val="360"/>
              </a:spcBef>
              <a:spcAft>
                <a:spcPts val="0"/>
              </a:spcAft>
              <a:buClr>
                <a:srgbClr val="000000"/>
              </a:buClr>
              <a:buSzPts val="1203"/>
              <a:buFont typeface="Calibri"/>
              <a:buChar char="●"/>
            </a:pPr>
            <a:r>
              <a:rPr lang="en-IN" sz="1203" b="0">
                <a:solidFill>
                  <a:srgbClr val="000000"/>
                </a:solidFill>
                <a:latin typeface="Calibri"/>
                <a:ea typeface="Calibri"/>
                <a:cs typeface="Calibri"/>
                <a:sym typeface="Calibri"/>
              </a:rPr>
              <a:t>Built validated login and appointment forms.</a:t>
            </a:r>
            <a:endParaRPr sz="1203" b="0">
              <a:solidFill>
                <a:srgbClr val="000000"/>
              </a:solidFill>
              <a:latin typeface="Calibri"/>
              <a:ea typeface="Calibri"/>
              <a:cs typeface="Calibri"/>
              <a:sym typeface="Calibri"/>
            </a:endParaRPr>
          </a:p>
          <a:p>
            <a:pPr marL="457200" lvl="0" indent="-304959" algn="l" rtl="0">
              <a:spcBef>
                <a:spcPts val="360"/>
              </a:spcBef>
              <a:spcAft>
                <a:spcPts val="0"/>
              </a:spcAft>
              <a:buClr>
                <a:srgbClr val="000000"/>
              </a:buClr>
              <a:buSzPts val="1203"/>
              <a:buFont typeface="Calibri"/>
              <a:buChar char="●"/>
            </a:pPr>
            <a:r>
              <a:rPr lang="en-IN" sz="1203" b="0">
                <a:solidFill>
                  <a:srgbClr val="000000"/>
                </a:solidFill>
                <a:latin typeface="Calibri"/>
                <a:ea typeface="Calibri"/>
                <a:cs typeface="Calibri"/>
                <a:sym typeface="Calibri"/>
              </a:rPr>
              <a:t>Developed a responsive and user-friendly interface.</a:t>
            </a:r>
            <a:endParaRPr sz="1203" b="0">
              <a:solidFill>
                <a:srgbClr val="000000"/>
              </a:solidFill>
              <a:latin typeface="Calibri"/>
              <a:ea typeface="Calibri"/>
              <a:cs typeface="Calibri"/>
              <a:sym typeface="Calibri"/>
            </a:endParaRPr>
          </a:p>
          <a:p>
            <a:pPr marL="0" lvl="0" indent="0" algn="l" rtl="0">
              <a:spcBef>
                <a:spcPts val="900"/>
              </a:spcBef>
              <a:spcAft>
                <a:spcPts val="0"/>
              </a:spcAft>
              <a:buNone/>
            </a:pPr>
            <a:r>
              <a:rPr lang="en-IN" sz="1203" b="1">
                <a:solidFill>
                  <a:srgbClr val="0070C0"/>
                </a:solidFill>
                <a:latin typeface="Calibri"/>
                <a:ea typeface="Calibri"/>
                <a:cs typeface="Calibri"/>
                <a:sym typeface="Calibri"/>
              </a:rPr>
              <a:t>CO6 – Build Systems &amp; Deployment</a:t>
            </a:r>
            <a:endParaRPr sz="1203" b="0">
              <a:solidFill>
                <a:srgbClr val="000000"/>
              </a:solidFill>
              <a:latin typeface="Calibri"/>
              <a:ea typeface="Calibri"/>
              <a:cs typeface="Calibri"/>
              <a:sym typeface="Calibri"/>
            </a:endParaRPr>
          </a:p>
          <a:p>
            <a:pPr marL="457200" lvl="0" indent="-304959" algn="l" rtl="0">
              <a:spcBef>
                <a:spcPts val="600"/>
              </a:spcBef>
              <a:spcAft>
                <a:spcPts val="0"/>
              </a:spcAft>
              <a:buClr>
                <a:srgbClr val="000000"/>
              </a:buClr>
              <a:buSzPts val="1203"/>
              <a:buFont typeface="Calibri"/>
              <a:buChar char="●"/>
            </a:pPr>
            <a:r>
              <a:rPr lang="en-IN" sz="1203" b="0">
                <a:solidFill>
                  <a:srgbClr val="000000"/>
                </a:solidFill>
                <a:latin typeface="Calibri"/>
                <a:ea typeface="Calibri"/>
                <a:cs typeface="Calibri"/>
                <a:sym typeface="Calibri"/>
              </a:rPr>
              <a:t>Developed the project using React with npm tooling.</a:t>
            </a:r>
            <a:endParaRPr sz="1203" b="0">
              <a:solidFill>
                <a:srgbClr val="000000"/>
              </a:solidFill>
              <a:latin typeface="Calibri"/>
              <a:ea typeface="Calibri"/>
              <a:cs typeface="Calibri"/>
              <a:sym typeface="Calibri"/>
            </a:endParaRPr>
          </a:p>
          <a:p>
            <a:pPr marL="457200" lvl="0" indent="-304959" algn="l" rtl="0">
              <a:spcBef>
                <a:spcPts val="360"/>
              </a:spcBef>
              <a:spcAft>
                <a:spcPts val="0"/>
              </a:spcAft>
              <a:buClr>
                <a:srgbClr val="000000"/>
              </a:buClr>
              <a:buSzPts val="1203"/>
              <a:buFont typeface="Calibri"/>
              <a:buChar char="●"/>
            </a:pPr>
            <a:r>
              <a:rPr lang="en-IN" sz="1203" b="0">
                <a:solidFill>
                  <a:srgbClr val="000000"/>
                </a:solidFill>
                <a:latin typeface="Calibri"/>
                <a:ea typeface="Calibri"/>
                <a:cs typeface="Calibri"/>
                <a:sym typeface="Calibri"/>
              </a:rPr>
              <a:t>Followed modern front-end practices and prepared the application for deployment and scalability.</a:t>
            </a:r>
            <a:endParaRPr sz="1203" b="0">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1"/>
          <p:cNvSpPr txBox="1">
            <a:spLocks noGrp="1"/>
          </p:cNvSpPr>
          <p:nvPr>
            <p:ph type="title"/>
          </p:nvPr>
        </p:nvSpPr>
        <p:spPr>
          <a:xfrm>
            <a:off x="1143000" y="-212726"/>
            <a:ext cx="7467600" cy="9445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70C0"/>
              </a:buClr>
              <a:buSzPts val="2800"/>
              <a:buFont typeface="Times New Roman"/>
              <a:buNone/>
            </a:pPr>
            <a:r>
              <a:rPr lang="en-IN" sz="2800" b="1">
                <a:solidFill>
                  <a:srgbClr val="0070C0"/>
                </a:solidFill>
                <a:latin typeface="Times New Roman"/>
                <a:ea typeface="Times New Roman"/>
                <a:cs typeface="Times New Roman"/>
                <a:sym typeface="Times New Roman"/>
              </a:rPr>
              <a:t>Modules [Frontend web pages]</a:t>
            </a:r>
            <a:endParaRPr/>
          </a:p>
        </p:txBody>
      </p:sp>
      <p:pic>
        <p:nvPicPr>
          <p:cNvPr id="147" name="Google Shape;147;p21"/>
          <p:cNvPicPr preferRelativeResize="0">
            <a:picLocks noGrp="1"/>
          </p:cNvPicPr>
          <p:nvPr>
            <p:ph type="body" idx="1"/>
          </p:nvPr>
        </p:nvPicPr>
        <p:blipFill rotWithShape="1">
          <a:blip r:embed="rId3">
            <a:alphaModFix/>
          </a:blip>
          <a:srcRect/>
          <a:stretch/>
        </p:blipFill>
        <p:spPr>
          <a:xfrm>
            <a:off x="152400" y="609600"/>
            <a:ext cx="8915400" cy="2819400"/>
          </a:xfrm>
          <a:prstGeom prst="rect">
            <a:avLst/>
          </a:prstGeom>
          <a:noFill/>
          <a:ln>
            <a:noFill/>
          </a:ln>
        </p:spPr>
      </p:pic>
      <p:pic>
        <p:nvPicPr>
          <p:cNvPr id="148" name="Google Shape;148;p21"/>
          <p:cNvPicPr preferRelativeResize="0"/>
          <p:nvPr/>
        </p:nvPicPr>
        <p:blipFill rotWithShape="1">
          <a:blip r:embed="rId4">
            <a:alphaModFix/>
          </a:blip>
          <a:srcRect/>
          <a:stretch/>
        </p:blipFill>
        <p:spPr>
          <a:xfrm>
            <a:off x="186813" y="29497"/>
            <a:ext cx="1295400" cy="639761"/>
          </a:xfrm>
          <a:prstGeom prst="rect">
            <a:avLst/>
          </a:prstGeom>
          <a:noFill/>
          <a:ln>
            <a:noFill/>
          </a:ln>
        </p:spPr>
      </p:pic>
      <p:pic>
        <p:nvPicPr>
          <p:cNvPr id="149" name="Google Shape;149;p21"/>
          <p:cNvPicPr preferRelativeResize="0"/>
          <p:nvPr/>
        </p:nvPicPr>
        <p:blipFill rotWithShape="1">
          <a:blip r:embed="rId5">
            <a:alphaModFix/>
          </a:blip>
          <a:srcRect/>
          <a:stretch/>
        </p:blipFill>
        <p:spPr>
          <a:xfrm>
            <a:off x="0" y="3810000"/>
            <a:ext cx="9144000" cy="315685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2"/>
          <p:cNvSpPr txBox="1">
            <a:spLocks noGrp="1"/>
          </p:cNvSpPr>
          <p:nvPr>
            <p:ph type="title"/>
          </p:nvPr>
        </p:nvSpPr>
        <p:spPr>
          <a:xfrm>
            <a:off x="1524000" y="274638"/>
            <a:ext cx="7162800" cy="8683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70C0"/>
              </a:buClr>
              <a:buSzPct val="100000"/>
              <a:buFont typeface="Times New Roman"/>
              <a:buNone/>
            </a:pPr>
            <a:r>
              <a:rPr lang="en-IN" sz="3100" b="1">
                <a:solidFill>
                  <a:srgbClr val="0070C0"/>
                </a:solidFill>
                <a:latin typeface="Times New Roman"/>
                <a:ea typeface="Times New Roman"/>
                <a:cs typeface="Times New Roman"/>
                <a:sym typeface="Times New Roman"/>
              </a:rPr>
              <a:t>Expected Outcomes of the Proposed Work</a:t>
            </a:r>
            <a:br>
              <a:rPr lang="en-IN" b="1">
                <a:solidFill>
                  <a:srgbClr val="0070C0"/>
                </a:solidFill>
                <a:latin typeface="Times New Roman"/>
                <a:ea typeface="Times New Roman"/>
                <a:cs typeface="Times New Roman"/>
                <a:sym typeface="Times New Roman"/>
              </a:rPr>
            </a:br>
            <a:endParaRPr b="1">
              <a:solidFill>
                <a:srgbClr val="0070C0"/>
              </a:solidFill>
              <a:latin typeface="Times New Roman"/>
              <a:ea typeface="Times New Roman"/>
              <a:cs typeface="Times New Roman"/>
              <a:sym typeface="Times New Roman"/>
            </a:endParaRPr>
          </a:p>
        </p:txBody>
      </p:sp>
      <p:sp>
        <p:nvSpPr>
          <p:cNvPr id="155" name="Google Shape;155;p22"/>
          <p:cNvSpPr txBox="1">
            <a:spLocks noGrp="1"/>
          </p:cNvSpPr>
          <p:nvPr>
            <p:ph type="body" idx="1"/>
          </p:nvPr>
        </p:nvSpPr>
        <p:spPr>
          <a:xfrm>
            <a:off x="457200" y="1143001"/>
            <a:ext cx="8229600" cy="4983164"/>
          </a:xfrm>
          <a:prstGeom prst="rect">
            <a:avLst/>
          </a:prstGeom>
          <a:noFill/>
          <a:ln>
            <a:noFill/>
          </a:ln>
        </p:spPr>
        <p:txBody>
          <a:bodyPr spcFirstLastPara="1" wrap="square" lIns="91425" tIns="45700" rIns="91425" bIns="45700" anchor="t" anchorCtr="0">
            <a:normAutofit fontScale="55000" lnSpcReduction="20000"/>
          </a:bodyPr>
          <a:lstStyle/>
          <a:p>
            <a:pPr marL="0" lvl="0" indent="0" algn="l" rtl="0">
              <a:spcBef>
                <a:spcPts val="0"/>
              </a:spcBef>
              <a:spcAft>
                <a:spcPts val="0"/>
              </a:spcAft>
              <a:buClr>
                <a:schemeClr val="dk1"/>
              </a:buClr>
              <a:buSzPct val="100000"/>
              <a:buNone/>
            </a:pPr>
            <a:r>
              <a:rPr lang="en-IN"/>
              <a:t>• Provide a simple and efficient online doctor appointment booking platform.</a:t>
            </a:r>
            <a:endParaRPr/>
          </a:p>
          <a:p>
            <a:pPr marL="0" lvl="0" indent="0" algn="l" rtl="0">
              <a:spcBef>
                <a:spcPts val="352"/>
              </a:spcBef>
              <a:spcAft>
                <a:spcPts val="0"/>
              </a:spcAft>
              <a:buClr>
                <a:schemeClr val="dk1"/>
              </a:buClr>
              <a:buSzPct val="100000"/>
              <a:buNone/>
            </a:pPr>
            <a:endParaRPr/>
          </a:p>
          <a:p>
            <a:pPr marL="0" lvl="0" indent="0" algn="l" rtl="0">
              <a:spcBef>
                <a:spcPts val="352"/>
              </a:spcBef>
              <a:spcAft>
                <a:spcPts val="0"/>
              </a:spcAft>
              <a:buClr>
                <a:schemeClr val="dk1"/>
              </a:buClr>
              <a:buSzPct val="100000"/>
              <a:buNone/>
            </a:pPr>
            <a:r>
              <a:rPr lang="en-IN"/>
              <a:t>• Enable patients to search doctors and book appointments easily.</a:t>
            </a:r>
            <a:endParaRPr/>
          </a:p>
          <a:p>
            <a:pPr marL="0" lvl="0" indent="0" algn="l" rtl="0">
              <a:spcBef>
                <a:spcPts val="352"/>
              </a:spcBef>
              <a:spcAft>
                <a:spcPts val="0"/>
              </a:spcAft>
              <a:buClr>
                <a:schemeClr val="dk1"/>
              </a:buClr>
              <a:buSzPct val="100000"/>
              <a:buNone/>
            </a:pPr>
            <a:endParaRPr/>
          </a:p>
          <a:p>
            <a:pPr marL="0" lvl="0" indent="0" algn="l" rtl="0">
              <a:spcBef>
                <a:spcPts val="352"/>
              </a:spcBef>
              <a:spcAft>
                <a:spcPts val="0"/>
              </a:spcAft>
              <a:buClr>
                <a:schemeClr val="dk1"/>
              </a:buClr>
              <a:buSzPct val="100000"/>
              <a:buNone/>
            </a:pPr>
            <a:r>
              <a:rPr lang="en-IN"/>
              <a:t>• Reduce waiting time and manual appointment scheduling.</a:t>
            </a:r>
            <a:endParaRPr/>
          </a:p>
          <a:p>
            <a:pPr marL="0" lvl="0" indent="0" algn="l" rtl="0">
              <a:spcBef>
                <a:spcPts val="352"/>
              </a:spcBef>
              <a:spcAft>
                <a:spcPts val="0"/>
              </a:spcAft>
              <a:buClr>
                <a:schemeClr val="dk1"/>
              </a:buClr>
              <a:buSzPct val="100000"/>
              <a:buNone/>
            </a:pPr>
            <a:endParaRPr/>
          </a:p>
          <a:p>
            <a:pPr marL="0" lvl="0" indent="0" algn="l" rtl="0">
              <a:spcBef>
                <a:spcPts val="352"/>
              </a:spcBef>
              <a:spcAft>
                <a:spcPts val="0"/>
              </a:spcAft>
              <a:buClr>
                <a:schemeClr val="dk1"/>
              </a:buClr>
              <a:buSzPct val="100000"/>
              <a:buNone/>
            </a:pPr>
            <a:r>
              <a:rPr lang="en-IN"/>
              <a:t>• Improve appointment management through separate Patient and Doctor portals.</a:t>
            </a:r>
            <a:endParaRPr/>
          </a:p>
          <a:p>
            <a:pPr marL="0" lvl="0" indent="0" algn="l" rtl="0">
              <a:spcBef>
                <a:spcPts val="352"/>
              </a:spcBef>
              <a:spcAft>
                <a:spcPts val="0"/>
              </a:spcAft>
              <a:buClr>
                <a:schemeClr val="dk1"/>
              </a:buClr>
              <a:buSzPct val="100000"/>
              <a:buNone/>
            </a:pPr>
            <a:endParaRPr/>
          </a:p>
          <a:p>
            <a:pPr marL="0" lvl="0" indent="0" algn="l" rtl="0">
              <a:spcBef>
                <a:spcPts val="352"/>
              </a:spcBef>
              <a:spcAft>
                <a:spcPts val="0"/>
              </a:spcAft>
              <a:buClr>
                <a:schemeClr val="dk1"/>
              </a:buClr>
              <a:buSzPct val="100000"/>
              <a:buNone/>
            </a:pPr>
            <a:r>
              <a:rPr lang="en-IN"/>
              <a:t>• Allow doctors to manage availability and appointment requests effectively.</a:t>
            </a:r>
            <a:endParaRPr/>
          </a:p>
          <a:p>
            <a:pPr marL="0" lvl="0" indent="0" algn="l" rtl="0">
              <a:spcBef>
                <a:spcPts val="352"/>
              </a:spcBef>
              <a:spcAft>
                <a:spcPts val="0"/>
              </a:spcAft>
              <a:buClr>
                <a:schemeClr val="dk1"/>
              </a:buClr>
              <a:buSzPct val="100000"/>
              <a:buNone/>
            </a:pPr>
            <a:endParaRPr/>
          </a:p>
          <a:p>
            <a:pPr marL="0" lvl="0" indent="0" algn="l" rtl="0">
              <a:spcBef>
                <a:spcPts val="352"/>
              </a:spcBef>
              <a:spcAft>
                <a:spcPts val="0"/>
              </a:spcAft>
              <a:buClr>
                <a:schemeClr val="dk1"/>
              </a:buClr>
              <a:buSzPct val="100000"/>
              <a:buNone/>
            </a:pPr>
            <a:r>
              <a:rPr lang="en-IN"/>
              <a:t>• Provide appointment status tracking and profile management features.</a:t>
            </a:r>
            <a:endParaRPr/>
          </a:p>
          <a:p>
            <a:pPr marL="0" lvl="0" indent="0" algn="l" rtl="0">
              <a:spcBef>
                <a:spcPts val="352"/>
              </a:spcBef>
              <a:spcAft>
                <a:spcPts val="0"/>
              </a:spcAft>
              <a:buClr>
                <a:schemeClr val="dk1"/>
              </a:buClr>
              <a:buSzPct val="100000"/>
              <a:buNone/>
            </a:pPr>
            <a:endParaRPr/>
          </a:p>
          <a:p>
            <a:pPr marL="0" lvl="0" indent="0" algn="l" rtl="0">
              <a:spcBef>
                <a:spcPts val="352"/>
              </a:spcBef>
              <a:spcAft>
                <a:spcPts val="0"/>
              </a:spcAft>
              <a:buClr>
                <a:schemeClr val="dk1"/>
              </a:buClr>
              <a:buSzPct val="100000"/>
              <a:buNone/>
            </a:pPr>
            <a:r>
              <a:rPr lang="en-IN"/>
              <a:t>• Deliver a responsive, user-friendly, and accessible healthcare application.</a:t>
            </a:r>
            <a:endParaRPr/>
          </a:p>
          <a:p>
            <a:pPr marL="0" lvl="0" indent="0" algn="l" rtl="0">
              <a:spcBef>
                <a:spcPts val="352"/>
              </a:spcBef>
              <a:spcAft>
                <a:spcPts val="0"/>
              </a:spcAft>
              <a:buClr>
                <a:schemeClr val="dk1"/>
              </a:buClr>
              <a:buSzPct val="100000"/>
              <a:buNone/>
            </a:pPr>
            <a:endParaRPr/>
          </a:p>
          <a:p>
            <a:pPr marL="0" lvl="0" indent="0" algn="l" rtl="0">
              <a:spcBef>
                <a:spcPts val="352"/>
              </a:spcBef>
              <a:spcAft>
                <a:spcPts val="0"/>
              </a:spcAft>
              <a:buClr>
                <a:schemeClr val="dk1"/>
              </a:buClr>
              <a:buSzPct val="100000"/>
              <a:buNone/>
            </a:pPr>
            <a:r>
              <a:rPr lang="en-IN"/>
              <a:t>• Demonstrate practical implementation of Front-End Engineering concepts using React.js.</a:t>
            </a:r>
            <a:endParaRPr/>
          </a:p>
          <a:p>
            <a:pPr marL="342900" lvl="0" indent="-231140" algn="l" rtl="0">
              <a:spcBef>
                <a:spcPts val="352"/>
              </a:spcBef>
              <a:spcAft>
                <a:spcPts val="0"/>
              </a:spcAft>
              <a:buClr>
                <a:schemeClr val="dk1"/>
              </a:buClr>
              <a:buSzPct val="100000"/>
              <a:buNone/>
            </a:pPr>
            <a:endParaRPr/>
          </a:p>
        </p:txBody>
      </p:sp>
      <p:pic>
        <p:nvPicPr>
          <p:cNvPr id="156" name="Google Shape;156;p22"/>
          <p:cNvPicPr preferRelativeResize="0"/>
          <p:nvPr/>
        </p:nvPicPr>
        <p:blipFill rotWithShape="1">
          <a:blip r:embed="rId3">
            <a:alphaModFix/>
          </a:blip>
          <a:srcRect/>
          <a:stretch/>
        </p:blipFill>
        <p:spPr>
          <a:xfrm>
            <a:off x="228600" y="92075"/>
            <a:ext cx="1295400" cy="746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3"/>
          <p:cNvSpPr txBox="1">
            <a:spLocks noGrp="1"/>
          </p:cNvSpPr>
          <p:nvPr>
            <p:ph type="title"/>
          </p:nvPr>
        </p:nvSpPr>
        <p:spPr>
          <a:xfrm>
            <a:off x="990600" y="228600"/>
            <a:ext cx="7696200" cy="6858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70C0"/>
              </a:buClr>
              <a:buSzPts val="2800"/>
              <a:buFont typeface="Times New Roman"/>
              <a:buNone/>
            </a:pPr>
            <a:r>
              <a:rPr lang="en-IN" sz="2800" b="1">
                <a:solidFill>
                  <a:srgbClr val="0070C0"/>
                </a:solidFill>
                <a:latin typeface="Times New Roman"/>
                <a:ea typeface="Times New Roman"/>
                <a:cs typeface="Times New Roman"/>
                <a:sym typeface="Times New Roman"/>
              </a:rPr>
              <a:t>Conclusion and Future Scope</a:t>
            </a:r>
            <a:endParaRPr sz="2800" b="1">
              <a:solidFill>
                <a:srgbClr val="0070C0"/>
              </a:solidFill>
              <a:latin typeface="Times New Roman"/>
              <a:ea typeface="Times New Roman"/>
              <a:cs typeface="Times New Roman"/>
              <a:sym typeface="Times New Roman"/>
            </a:endParaRPr>
          </a:p>
        </p:txBody>
      </p:sp>
      <p:sp>
        <p:nvSpPr>
          <p:cNvPr id="162" name="Google Shape;162;p23"/>
          <p:cNvSpPr txBox="1">
            <a:spLocks noGrp="1"/>
          </p:cNvSpPr>
          <p:nvPr>
            <p:ph type="body" idx="1"/>
          </p:nvPr>
        </p:nvSpPr>
        <p:spPr>
          <a:xfrm>
            <a:off x="457200" y="1050925"/>
            <a:ext cx="8229600" cy="5075239"/>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Clr>
                <a:schemeClr val="dk1"/>
              </a:buClr>
              <a:buSzPct val="100000"/>
              <a:buNone/>
            </a:pPr>
            <a:r>
              <a:rPr lang="en-IN" b="1"/>
              <a:t>Conclusion</a:t>
            </a:r>
            <a:endParaRPr/>
          </a:p>
          <a:p>
            <a:pPr marL="342900" lvl="0" indent="-342900" algn="l" rtl="0">
              <a:spcBef>
                <a:spcPts val="496"/>
              </a:spcBef>
              <a:spcAft>
                <a:spcPts val="0"/>
              </a:spcAft>
              <a:buClr>
                <a:schemeClr val="dk1"/>
              </a:buClr>
              <a:buSzPct val="100000"/>
              <a:buChar char="•"/>
            </a:pPr>
            <a:r>
              <a:rPr lang="en-IN"/>
              <a:t>Simplifies doctor appointment booking and management. </a:t>
            </a:r>
            <a:endParaRPr/>
          </a:p>
          <a:p>
            <a:pPr marL="342900" lvl="0" indent="-342900" algn="l" rtl="0">
              <a:spcBef>
                <a:spcPts val="496"/>
              </a:spcBef>
              <a:spcAft>
                <a:spcPts val="0"/>
              </a:spcAft>
              <a:buClr>
                <a:schemeClr val="dk1"/>
              </a:buClr>
              <a:buSzPct val="100000"/>
              <a:buChar char="•"/>
            </a:pPr>
            <a:r>
              <a:rPr lang="en-IN"/>
              <a:t>Improves communication between patients and doctors. </a:t>
            </a:r>
            <a:endParaRPr/>
          </a:p>
          <a:p>
            <a:pPr marL="342900" lvl="0" indent="-342900" algn="l" rtl="0">
              <a:spcBef>
                <a:spcPts val="496"/>
              </a:spcBef>
              <a:spcAft>
                <a:spcPts val="0"/>
              </a:spcAft>
              <a:buClr>
                <a:schemeClr val="dk1"/>
              </a:buClr>
              <a:buSzPct val="100000"/>
              <a:buChar char="•"/>
            </a:pPr>
            <a:r>
              <a:rPr lang="en-IN"/>
              <a:t>Provides a user-friendly React-based healthcare platform. </a:t>
            </a:r>
            <a:endParaRPr/>
          </a:p>
          <a:p>
            <a:pPr marL="342900" lvl="0" indent="-185420" algn="l" rtl="0">
              <a:spcBef>
                <a:spcPts val="496"/>
              </a:spcBef>
              <a:spcAft>
                <a:spcPts val="0"/>
              </a:spcAft>
              <a:buClr>
                <a:schemeClr val="dk1"/>
              </a:buClr>
              <a:buSzPct val="100000"/>
              <a:buNone/>
            </a:pPr>
            <a:endParaRPr/>
          </a:p>
          <a:p>
            <a:pPr marL="0" lvl="0" indent="0" algn="l" rtl="0">
              <a:spcBef>
                <a:spcPts val="496"/>
              </a:spcBef>
              <a:spcAft>
                <a:spcPts val="0"/>
              </a:spcAft>
              <a:buClr>
                <a:schemeClr val="dk1"/>
              </a:buClr>
              <a:buSzPct val="100000"/>
              <a:buNone/>
            </a:pPr>
            <a:r>
              <a:rPr lang="en-IN" b="1"/>
              <a:t>Future Scope</a:t>
            </a:r>
            <a:endParaRPr/>
          </a:p>
          <a:p>
            <a:pPr marL="342900" lvl="0" indent="-342900" algn="l" rtl="0">
              <a:spcBef>
                <a:spcPts val="496"/>
              </a:spcBef>
              <a:spcAft>
                <a:spcPts val="0"/>
              </a:spcAft>
              <a:buClr>
                <a:schemeClr val="dk1"/>
              </a:buClr>
              <a:buSzPct val="100000"/>
              <a:buChar char="•"/>
            </a:pPr>
            <a:r>
              <a:rPr lang="en-IN"/>
              <a:t>Database integration </a:t>
            </a:r>
            <a:endParaRPr/>
          </a:p>
          <a:p>
            <a:pPr marL="342900" lvl="0" indent="-342900" algn="l" rtl="0">
              <a:spcBef>
                <a:spcPts val="496"/>
              </a:spcBef>
              <a:spcAft>
                <a:spcPts val="0"/>
              </a:spcAft>
              <a:buClr>
                <a:schemeClr val="dk1"/>
              </a:buClr>
              <a:buSzPct val="100000"/>
              <a:buChar char="•"/>
            </a:pPr>
            <a:r>
              <a:rPr lang="en-IN"/>
              <a:t>Online payments </a:t>
            </a:r>
            <a:endParaRPr/>
          </a:p>
          <a:p>
            <a:pPr marL="342900" lvl="0" indent="-342900" algn="l" rtl="0">
              <a:spcBef>
                <a:spcPts val="496"/>
              </a:spcBef>
              <a:spcAft>
                <a:spcPts val="0"/>
              </a:spcAft>
              <a:buClr>
                <a:schemeClr val="dk1"/>
              </a:buClr>
              <a:buSzPct val="100000"/>
              <a:buChar char="•"/>
            </a:pPr>
            <a:r>
              <a:rPr lang="en-IN"/>
              <a:t>Email/SMS notifications </a:t>
            </a:r>
            <a:endParaRPr/>
          </a:p>
          <a:p>
            <a:pPr marL="342900" lvl="0" indent="-342900" algn="l" rtl="0">
              <a:spcBef>
                <a:spcPts val="496"/>
              </a:spcBef>
              <a:spcAft>
                <a:spcPts val="0"/>
              </a:spcAft>
              <a:buClr>
                <a:schemeClr val="dk1"/>
              </a:buClr>
              <a:buSzPct val="100000"/>
              <a:buChar char="•"/>
            </a:pPr>
            <a:r>
              <a:rPr lang="en-IN"/>
              <a:t>Video consultations </a:t>
            </a:r>
            <a:endParaRPr/>
          </a:p>
          <a:p>
            <a:pPr marL="342900" lvl="0" indent="-342900" algn="l" rtl="0">
              <a:spcBef>
                <a:spcPts val="496"/>
              </a:spcBef>
              <a:spcAft>
                <a:spcPts val="0"/>
              </a:spcAft>
              <a:buClr>
                <a:schemeClr val="dk1"/>
              </a:buClr>
              <a:buSzPct val="100000"/>
              <a:buChar char="•"/>
            </a:pPr>
            <a:r>
              <a:rPr lang="en-IN"/>
              <a:t>AI-based recommendations</a:t>
            </a:r>
            <a:endParaRPr/>
          </a:p>
          <a:p>
            <a:pPr marL="342900" lvl="0" indent="-185420" algn="l" rtl="0">
              <a:spcBef>
                <a:spcPts val="496"/>
              </a:spcBef>
              <a:spcAft>
                <a:spcPts val="0"/>
              </a:spcAft>
              <a:buClr>
                <a:schemeClr val="dk1"/>
              </a:buClr>
              <a:buSzPct val="100000"/>
              <a:buNone/>
            </a:pPr>
            <a:endParaRPr/>
          </a:p>
        </p:txBody>
      </p:sp>
      <p:pic>
        <p:nvPicPr>
          <p:cNvPr id="163" name="Google Shape;163;p23"/>
          <p:cNvPicPr preferRelativeResize="0"/>
          <p:nvPr/>
        </p:nvPicPr>
        <p:blipFill rotWithShape="1">
          <a:blip r:embed="rId3">
            <a:alphaModFix/>
          </a:blip>
          <a:srcRect/>
          <a:stretch/>
        </p:blipFill>
        <p:spPr>
          <a:xfrm>
            <a:off x="228600" y="92075"/>
            <a:ext cx="12954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0070C0"/>
              </a:buClr>
              <a:buSzPts val="2800"/>
              <a:buFont typeface="Times New Roman"/>
              <a:buNone/>
            </a:pPr>
            <a:r>
              <a:rPr lang="en-IN" sz="2800" b="1">
                <a:solidFill>
                  <a:srgbClr val="0070C0"/>
                </a:solidFill>
                <a:latin typeface="Times New Roman"/>
                <a:ea typeface="Times New Roman"/>
                <a:cs typeface="Times New Roman"/>
                <a:sym typeface="Times New Roman"/>
              </a:rPr>
              <a:t>References </a:t>
            </a:r>
            <a:endParaRPr/>
          </a:p>
        </p:txBody>
      </p:sp>
      <p:sp>
        <p:nvSpPr>
          <p:cNvPr id="169" name="Google Shape;169;p24"/>
          <p:cNvSpPr txBox="1">
            <a:spLocks noGrp="1"/>
          </p:cNvSpPr>
          <p:nvPr>
            <p:ph type="body" idx="1"/>
          </p:nvPr>
        </p:nvSpPr>
        <p:spPr>
          <a:xfrm>
            <a:off x="457200" y="1600201"/>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800"/>
              <a:buNone/>
            </a:pPr>
            <a:r>
              <a:rPr lang="en-IN" sz="2800"/>
              <a:t>• React.js Documentation</a:t>
            </a:r>
            <a:endParaRPr/>
          </a:p>
          <a:p>
            <a:pPr marL="0" lvl="0" indent="0" algn="l" rtl="0">
              <a:spcBef>
                <a:spcPts val="560"/>
              </a:spcBef>
              <a:spcAft>
                <a:spcPts val="0"/>
              </a:spcAft>
              <a:buClr>
                <a:schemeClr val="dk1"/>
              </a:buClr>
              <a:buSzPts val="2800"/>
              <a:buNone/>
            </a:pPr>
            <a:r>
              <a:rPr lang="en-IN" sz="2800"/>
              <a:t>• React Router Documentation</a:t>
            </a:r>
            <a:endParaRPr/>
          </a:p>
          <a:p>
            <a:pPr marL="0" lvl="0" indent="0" algn="l" rtl="0">
              <a:spcBef>
                <a:spcPts val="560"/>
              </a:spcBef>
              <a:spcAft>
                <a:spcPts val="0"/>
              </a:spcAft>
              <a:buClr>
                <a:schemeClr val="dk1"/>
              </a:buClr>
              <a:buSzPts val="2800"/>
              <a:buNone/>
            </a:pPr>
            <a:r>
              <a:rPr lang="en-IN" sz="2800"/>
              <a:t>• MDN Web Docs</a:t>
            </a:r>
            <a:endParaRPr/>
          </a:p>
          <a:p>
            <a:pPr marL="0" lvl="0" indent="0" algn="l" rtl="0">
              <a:spcBef>
                <a:spcPts val="560"/>
              </a:spcBef>
              <a:spcAft>
                <a:spcPts val="0"/>
              </a:spcAft>
              <a:buClr>
                <a:schemeClr val="dk1"/>
              </a:buClr>
              <a:buSzPts val="2800"/>
              <a:buNone/>
            </a:pPr>
            <a:r>
              <a:rPr lang="en-IN" sz="2800"/>
              <a:t>• Tailwind CSS Documentation</a:t>
            </a:r>
            <a:endParaRPr/>
          </a:p>
          <a:p>
            <a:pPr marL="0" lvl="0" indent="0" algn="l" rtl="0">
              <a:spcBef>
                <a:spcPts val="560"/>
              </a:spcBef>
              <a:spcAft>
                <a:spcPts val="0"/>
              </a:spcAft>
              <a:buClr>
                <a:schemeClr val="dk1"/>
              </a:buClr>
              <a:buSzPts val="2800"/>
              <a:buNone/>
            </a:pPr>
            <a:r>
              <a:rPr lang="en-IN" sz="2800"/>
              <a:t>• Front-End Engineering Course Material</a:t>
            </a:r>
            <a:endParaRPr/>
          </a:p>
          <a:p>
            <a:pPr marL="0" lvl="0" indent="0" algn="l" rtl="0">
              <a:spcBef>
                <a:spcPts val="560"/>
              </a:spcBef>
              <a:spcAft>
                <a:spcPts val="0"/>
              </a:spcAft>
              <a:buClr>
                <a:schemeClr val="dk1"/>
              </a:buClr>
              <a:buSzPts val="2800"/>
              <a:buNone/>
            </a:pPr>
            <a:r>
              <a:rPr lang="en-IN" sz="2800"/>
              <a:t>• Online Healthcare Management Resources</a:t>
            </a:r>
            <a:endParaRPr/>
          </a:p>
          <a:p>
            <a:pPr marL="342900" lvl="0" indent="-139700" algn="l" rtl="0">
              <a:spcBef>
                <a:spcPts val="640"/>
              </a:spcBef>
              <a:spcAft>
                <a:spcPts val="0"/>
              </a:spcAft>
              <a:buClr>
                <a:schemeClr val="dk1"/>
              </a:buClr>
              <a:buSzPts val="3200"/>
              <a:buNone/>
            </a:pPr>
            <a:endParaRPr/>
          </a:p>
        </p:txBody>
      </p:sp>
      <p:pic>
        <p:nvPicPr>
          <p:cNvPr id="170" name="Google Shape;170;p24"/>
          <p:cNvPicPr preferRelativeResize="0"/>
          <p:nvPr/>
        </p:nvPicPr>
        <p:blipFill rotWithShape="1">
          <a:blip r:embed="rId3">
            <a:alphaModFix/>
          </a:blip>
          <a:srcRect/>
          <a:stretch/>
        </p:blipFill>
        <p:spPr>
          <a:xfrm>
            <a:off x="228600" y="92075"/>
            <a:ext cx="1447800" cy="63976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5"/>
          <p:cNvSpPr/>
          <p:nvPr/>
        </p:nvSpPr>
        <p:spPr>
          <a:xfrm>
            <a:off x="1767855" y="2774216"/>
            <a:ext cx="5608289" cy="9233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IN" sz="5400" b="1" i="0" u="none" strike="noStrike" cap="none">
                <a:solidFill>
                  <a:srgbClr val="262626"/>
                </a:solidFill>
                <a:latin typeface="Calibri"/>
                <a:ea typeface="Calibri"/>
                <a:cs typeface="Calibri"/>
                <a:sym typeface="Calibri"/>
              </a:rPr>
              <a:t>Thank you</a:t>
            </a:r>
            <a:endParaRPr sz="5400" b="1" i="0" u="none" strike="noStrike" cap="none">
              <a:solidFill>
                <a:srgbClr val="262626"/>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1056</Words>
  <Application>Microsoft Office PowerPoint</Application>
  <PresentationFormat>On-screen Show (4:3)</PresentationFormat>
  <Paragraphs>122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 A Project Review Meeting    on Doctor Appointment Booking System</vt:lpstr>
      <vt:lpstr>Outline of the Presentation</vt:lpstr>
      <vt:lpstr>Abstract</vt:lpstr>
      <vt:lpstr>Introduction</vt:lpstr>
      <vt:lpstr>Problem Statement </vt:lpstr>
      <vt:lpstr>Project Flow Diagram</vt:lpstr>
      <vt:lpstr>Objectives with Justification </vt:lpstr>
      <vt:lpstr>Course Outcomes (COs) Applied in the Project</vt:lpstr>
      <vt:lpstr>Modules [Frontend web pages]</vt:lpstr>
      <vt:lpstr>Expected Outcomes of the Proposed Work </vt:lpstr>
      <vt:lpstr>Conclusion and Future Scope</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DHARANI DHAR</dc:creator>
  <cp:lastModifiedBy>Dharani dhar T</cp:lastModifiedBy>
  <cp:revision>1</cp:revision>
  <dcterms:modified xsi:type="dcterms:W3CDTF">2026-06-19T03:52:58Z</dcterms:modified>
</cp:coreProperties>
</file>